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4129" r:id="rId1"/>
  </p:sldMasterIdLst>
  <p:notesMasterIdLst>
    <p:notesMasterId r:id="rId8"/>
  </p:notesMasterIdLst>
  <p:sldIdLst>
    <p:sldId id="256" r:id="rId2"/>
    <p:sldId id="281" r:id="rId3"/>
    <p:sldId id="280" r:id="rId4"/>
    <p:sldId id="282" r:id="rId5"/>
    <p:sldId id="285" r:id="rId6"/>
    <p:sldId id="284" r:id="rId7"/>
  </p:sldIdLst>
  <p:sldSz cx="14630400" cy="8229600"/>
  <p:notesSz cx="8229600" cy="14630400"/>
  <p:embeddedFontLst>
    <p:embeddedFont>
      <p:font typeface="Inter" panose="020B0604020202020204" charset="0"/>
      <p:regular r:id="rId9"/>
    </p:embeddedFont>
    <p:embeddedFont>
      <p:font typeface="Trebuchet MS" panose="020B0603020202020204" pitchFamily="34" charset="0"/>
      <p:regular r:id="rId10"/>
      <p:bold r:id="rId11"/>
      <p:italic r:id="rId12"/>
      <p:boldItalic r:id="rId13"/>
    </p:embeddedFont>
    <p:embeddedFont>
      <p:font typeface="Wingdings 3" panose="05040102010807070707" pitchFamily="18" charset="2"/>
      <p:regular r:id="rId14"/>
    </p:embeddedFont>
    <p:embeddedFont>
      <p:font typeface="Calibri" panose="020F0502020204030204" pitchFamily="34" charset="0"/>
      <p:regular r:id="rId15"/>
      <p:bold r:id="rId16"/>
      <p:italic r:id="rId17"/>
      <p:boldItalic r:id="rId18"/>
    </p:embeddedFont>
    <p:embeddedFont>
      <p:font typeface="Palatino Linotype" panose="02040502050505030304" pitchFamily="18" charset="0"/>
      <p:regular r:id="rId19"/>
      <p:bold r:id="rId20"/>
      <p:italic r:id="rId21"/>
      <p:boldItalic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889196D8-AE5D-4849-A50A-DE72E6B4E828}">
          <p14:sldIdLst>
            <p14:sldId id="256"/>
            <p14:sldId id="281"/>
            <p14:sldId id="280"/>
            <p14:sldId id="282"/>
            <p14:sldId id="285"/>
            <p14:sldId id="284"/>
          </p14:sldIdLst>
        </p14:section>
      </p14:sectionLst>
    </p:ext>
    <p:ext uri="{EFAFB233-063F-42B5-8137-9DF3F51BA10A}">
      <p15:sldGuideLst xmlns:p15="http://schemas.microsoft.com/office/powerpoint/2012/main">
        <p15:guide id="1" orient="horz" pos="2592" userDrawn="1">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528" y="43"/>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presProps" Target="presProps.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9256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1535B-0E16-044C-BD64-E035454AFA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43CBC2-0A94-85D6-04F6-ACD86FDC6E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270E33-90D1-4EF6-37CD-383E9758D4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575EEA-FD43-97EF-7083-390955B94979}"/>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969049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7" name="Group 6"/>
          <p:cNvGrpSpPr/>
          <p:nvPr/>
        </p:nvGrpSpPr>
        <p:grpSpPr>
          <a:xfrm>
            <a:off x="0" y="-10160"/>
            <a:ext cx="14630400" cy="823976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808481" y="2885441"/>
            <a:ext cx="9320323" cy="1975562"/>
          </a:xfrm>
        </p:spPr>
        <p:txBody>
          <a:bodyPr anchor="b">
            <a:noAutofit/>
          </a:bodyPr>
          <a:lstStyle>
            <a:lvl1pPr algn="r">
              <a:defRPr sz="6480">
                <a:solidFill>
                  <a:schemeClr val="accent1"/>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808481" y="4861000"/>
            <a:ext cx="9320323" cy="1316279"/>
          </a:xfrm>
        </p:spPr>
        <p:txBody>
          <a:bodyPr anchor="t"/>
          <a:lstStyle>
            <a:lvl1pPr marL="0" indent="0" algn="r">
              <a:buNone/>
              <a:defRPr>
                <a:solidFill>
                  <a:schemeClr val="tx1">
                    <a:lumMod val="50000"/>
                    <a:lumOff val="50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2107820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320"/>
            </a:lvl1p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158949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12802" y="3241041"/>
            <a:ext cx="10316002" cy="2191897"/>
          </a:xfrm>
        </p:spPr>
        <p:txBody>
          <a:bodyPr anchor="b"/>
          <a:lstStyle>
            <a:lvl1pPr algn="l">
              <a:defRPr sz="48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812802" y="5432938"/>
            <a:ext cx="10316002" cy="1032480"/>
          </a:xfrm>
        </p:spPr>
        <p:txBody>
          <a:bodyPr anchor="t"/>
          <a:lstStyle>
            <a:lvl1pPr marL="0" indent="0" algn="l">
              <a:buNone/>
              <a:defRPr sz="240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2889189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812801" y="2592707"/>
            <a:ext cx="5020842" cy="4656926"/>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107964" y="2592707"/>
            <a:ext cx="5020841" cy="465692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3651974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810894" y="2593180"/>
            <a:ext cx="5022748"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ru-RU" smtClean="0"/>
              <a:t>Образец текста</a:t>
            </a:r>
          </a:p>
        </p:txBody>
      </p:sp>
      <p:sp>
        <p:nvSpPr>
          <p:cNvPr id="4" name="Content Placeholder 3"/>
          <p:cNvSpPr>
            <a:spLocks noGrp="1"/>
          </p:cNvSpPr>
          <p:nvPr>
            <p:ph sz="half" idx="2"/>
          </p:nvPr>
        </p:nvSpPr>
        <p:spPr>
          <a:xfrm>
            <a:off x="810894" y="3284695"/>
            <a:ext cx="5022748" cy="3964940"/>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106059" y="2593180"/>
            <a:ext cx="5022742" cy="691514"/>
          </a:xfrm>
        </p:spPr>
        <p:txBody>
          <a:bodyPr anchor="b">
            <a:noAutofit/>
          </a:bodyPr>
          <a:lstStyle>
            <a:lvl1pPr marL="0" indent="0">
              <a:buNone/>
              <a:defRPr sz="288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ru-RU" smtClean="0"/>
              <a:t>Образец текста</a:t>
            </a:r>
          </a:p>
        </p:txBody>
      </p:sp>
      <p:sp>
        <p:nvSpPr>
          <p:cNvPr id="6" name="Content Placeholder 5"/>
          <p:cNvSpPr>
            <a:spLocks noGrp="1"/>
          </p:cNvSpPr>
          <p:nvPr>
            <p:ph sz="quarter" idx="4"/>
          </p:nvPr>
        </p:nvSpPr>
        <p:spPr>
          <a:xfrm>
            <a:off x="6106062" y="3284695"/>
            <a:ext cx="5022740" cy="3964940"/>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6678348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a:xfrm>
            <a:off x="812801" y="731520"/>
            <a:ext cx="10316002" cy="1584960"/>
          </a:xfrm>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0178670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6539008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12801" y="1798325"/>
            <a:ext cx="4625434" cy="1534159"/>
          </a:xfrm>
        </p:spPr>
        <p:txBody>
          <a:bodyPr anchor="b">
            <a:normAutofit/>
          </a:bodyPr>
          <a:lstStyle>
            <a:lvl1pPr>
              <a:defRPr sz="2400"/>
            </a:lvl1pPr>
          </a:lstStyle>
          <a:p>
            <a:r>
              <a:rPr lang="ru-RU" smtClean="0"/>
              <a:t>Образец заголовка</a:t>
            </a:r>
            <a:endParaRPr lang="en-US" dirty="0"/>
          </a:p>
        </p:txBody>
      </p:sp>
      <p:sp>
        <p:nvSpPr>
          <p:cNvPr id="3" name="Content Placeholder 2"/>
          <p:cNvSpPr>
            <a:spLocks noGrp="1"/>
          </p:cNvSpPr>
          <p:nvPr>
            <p:ph idx="1"/>
          </p:nvPr>
        </p:nvSpPr>
        <p:spPr>
          <a:xfrm>
            <a:off x="5712554" y="617910"/>
            <a:ext cx="5416249" cy="6631724"/>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812801" y="3332483"/>
            <a:ext cx="4625434" cy="3101339"/>
          </a:xfrm>
        </p:spPr>
        <p:txBody>
          <a:bodyPr>
            <a:normAutofit/>
          </a:bodyPr>
          <a:lstStyle>
            <a:lvl1pPr marL="0" indent="0">
              <a:buNone/>
              <a:defRPr sz="1680"/>
            </a:lvl1pPr>
            <a:lvl2pPr marL="548476" indent="0">
              <a:buNone/>
              <a:defRPr sz="1680"/>
            </a:lvl2pPr>
            <a:lvl3pPr marL="1096951" indent="0">
              <a:buNone/>
              <a:defRPr sz="1440"/>
            </a:lvl3pPr>
            <a:lvl4pPr marL="1645427" indent="0">
              <a:buNone/>
              <a:defRPr sz="1200"/>
            </a:lvl4pPr>
            <a:lvl5pPr marL="2193901" indent="0">
              <a:buNone/>
              <a:defRPr sz="1200"/>
            </a:lvl5pPr>
            <a:lvl6pPr marL="2742377" indent="0">
              <a:buNone/>
              <a:defRPr sz="1200"/>
            </a:lvl6pPr>
            <a:lvl7pPr marL="3290852" indent="0">
              <a:buNone/>
              <a:defRPr sz="1200"/>
            </a:lvl7pPr>
            <a:lvl8pPr marL="3839328" indent="0">
              <a:buNone/>
              <a:defRPr sz="1200"/>
            </a:lvl8pPr>
            <a:lvl9pPr marL="4387804" indent="0">
              <a:buNone/>
              <a:defRPr sz="1200"/>
            </a:lvl9pPr>
          </a:lstStyle>
          <a:p>
            <a:pPr lvl="0"/>
            <a:r>
              <a:rPr lang="ru-RU" smtClean="0"/>
              <a:t>Образец текста</a:t>
            </a:r>
          </a:p>
        </p:txBody>
      </p:sp>
      <p:sp>
        <p:nvSpPr>
          <p:cNvPr id="5" name="Date Placeholder 4"/>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033468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12802" y="5760720"/>
            <a:ext cx="10316000" cy="680086"/>
          </a:xfrm>
        </p:spPr>
        <p:txBody>
          <a:bodyPr anchor="b">
            <a:normAutofit/>
          </a:bodyPr>
          <a:lstStyle>
            <a:lvl1pPr algn="l">
              <a:defRPr sz="288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812801" y="731520"/>
            <a:ext cx="10316002" cy="4614862"/>
          </a:xfrm>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ru-RU" smtClean="0"/>
              <a:t>Вставка рисунка</a:t>
            </a:r>
            <a:endParaRPr lang="en-US" dirty="0"/>
          </a:p>
        </p:txBody>
      </p:sp>
      <p:sp>
        <p:nvSpPr>
          <p:cNvPr id="4" name="Text Placeholder 3"/>
          <p:cNvSpPr>
            <a:spLocks noGrp="1"/>
          </p:cNvSpPr>
          <p:nvPr>
            <p:ph type="body" sz="half" idx="2"/>
          </p:nvPr>
        </p:nvSpPr>
        <p:spPr>
          <a:xfrm>
            <a:off x="812802" y="6440806"/>
            <a:ext cx="10316000" cy="808829"/>
          </a:xfrm>
        </p:spPr>
        <p:txBody>
          <a:bodyPr>
            <a:normAutofit/>
          </a:bodyPr>
          <a:lstStyle>
            <a:lvl1pPr marL="0" indent="0">
              <a:buNone/>
              <a:defRPr sz="144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ru-RU" smtClean="0"/>
              <a:t>Образец текста</a:t>
            </a:r>
          </a:p>
        </p:txBody>
      </p:sp>
      <p:sp>
        <p:nvSpPr>
          <p:cNvPr id="5" name="Date Placeholder 4"/>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2701441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812802" y="731520"/>
            <a:ext cx="10316002" cy="4084320"/>
          </a:xfrm>
        </p:spPr>
        <p:txBody>
          <a:bodyPr anchor="ctr">
            <a:normAutofit/>
          </a:bodyPr>
          <a:lstStyle>
            <a:lvl1pPr algn="l">
              <a:defRPr sz="528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9940779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ru-RU" smtClean="0"/>
              <a:t>Образец заголовка</a:t>
            </a:r>
            <a:endParaRPr lang="en-US" dirty="0"/>
          </a:p>
        </p:txBody>
      </p:sp>
      <p:sp>
        <p:nvSpPr>
          <p:cNvPr id="23" name="Text Placeholder 9"/>
          <p:cNvSpPr>
            <a:spLocks noGrp="1"/>
          </p:cNvSpPr>
          <p:nvPr>
            <p:ph type="body" sz="quarter" idx="13"/>
          </p:nvPr>
        </p:nvSpPr>
        <p:spPr>
          <a:xfrm>
            <a:off x="1639367" y="4358640"/>
            <a:ext cx="8669429" cy="457200"/>
          </a:xfrm>
        </p:spPr>
        <p:txBody>
          <a:bodyPr anchor="ctr">
            <a:noAutofit/>
          </a:bodyPr>
          <a:lstStyle>
            <a:lvl1pPr marL="0" indent="0">
              <a:buFontTx/>
              <a:buNone/>
              <a:defRPr sz="1920">
                <a:solidFill>
                  <a:schemeClr val="tx1">
                    <a:lumMod val="50000"/>
                    <a:lumOff val="50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812802" y="5364480"/>
            <a:ext cx="10316002" cy="1885154"/>
          </a:xfrm>
        </p:spPr>
        <p:txBody>
          <a:bodyPr anchor="ctr">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latin typeface="Arial"/>
              </a:rPr>
              <a:t>”</a:t>
            </a:r>
            <a:endParaRPr lang="en-US" sz="2160" dirty="0">
              <a:solidFill>
                <a:schemeClr val="accent1">
                  <a:lumMod val="60000"/>
                  <a:lumOff val="40000"/>
                </a:schemeClr>
              </a:solidFill>
              <a:latin typeface="Arial"/>
            </a:endParaRPr>
          </a:p>
        </p:txBody>
      </p:sp>
    </p:spTree>
    <p:extLst>
      <p:ext uri="{BB962C8B-B14F-4D97-AF65-F5344CB8AC3E}">
        <p14:creationId xmlns:p14="http://schemas.microsoft.com/office/powerpoint/2010/main" val="403860924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812802" y="2318386"/>
            <a:ext cx="10316002" cy="3114552"/>
          </a:xfrm>
        </p:spPr>
        <p:txBody>
          <a:bodyPr anchor="b">
            <a:normAutofit/>
          </a:bodyPr>
          <a:lstStyle>
            <a:lvl1pPr algn="l">
              <a:defRPr sz="528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75000"/>
                    <a:lumOff val="2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9339421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117601" y="731520"/>
            <a:ext cx="9712961" cy="3627120"/>
          </a:xfrm>
        </p:spPr>
        <p:txBody>
          <a:bodyPr anchor="ctr">
            <a:normAutofit/>
          </a:bodyPr>
          <a:lstStyle>
            <a:lvl1pPr algn="l">
              <a:defRPr sz="5280" b="0" cap="none"/>
            </a:lvl1pPr>
          </a:lstStyle>
          <a:p>
            <a:r>
              <a:rPr lang="ru-RU" smtClean="0"/>
              <a:t>Образец заголовка</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tx1">
                    <a:lumMod val="75000"/>
                    <a:lumOff val="25000"/>
                  </a:schemeClr>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650244" y="948454"/>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0671613" y="3463867"/>
            <a:ext cx="731520" cy="701731"/>
          </a:xfrm>
          <a:prstGeom prst="rect">
            <a:avLst/>
          </a:prstGeom>
        </p:spPr>
        <p:txBody>
          <a:bodyPr vert="horz" lIns="109728" tIns="54864" rIns="109728" bIns="54864" rtlCol="0" anchor="ctr">
            <a:noAutofit/>
          </a:bodyPr>
          <a:lstStyle/>
          <a:p>
            <a:pPr lvl="0"/>
            <a:r>
              <a:rPr lang="en-US" sz="96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6689937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822959" y="731520"/>
            <a:ext cx="10305844" cy="3627120"/>
          </a:xfrm>
        </p:spPr>
        <p:txBody>
          <a:bodyPr anchor="ctr">
            <a:normAutofit/>
          </a:bodyPr>
          <a:lstStyle>
            <a:lvl1pPr algn="l">
              <a:defRPr sz="5280" b="0" cap="none"/>
            </a:lvl1pPr>
          </a:lstStyle>
          <a:p>
            <a:r>
              <a:rPr lang="ru-RU" smtClean="0"/>
              <a:t>Образец заголовка</a:t>
            </a:r>
            <a:endParaRPr lang="en-US" dirty="0"/>
          </a:p>
        </p:txBody>
      </p:sp>
      <p:sp>
        <p:nvSpPr>
          <p:cNvPr id="23" name="Text Placeholder 9"/>
          <p:cNvSpPr>
            <a:spLocks noGrp="1"/>
          </p:cNvSpPr>
          <p:nvPr>
            <p:ph type="body" sz="quarter" idx="13"/>
          </p:nvPr>
        </p:nvSpPr>
        <p:spPr>
          <a:xfrm>
            <a:off x="812799" y="4815840"/>
            <a:ext cx="10316003" cy="617098"/>
          </a:xfrm>
        </p:spPr>
        <p:txBody>
          <a:bodyPr anchor="b">
            <a:noAutofit/>
          </a:bodyPr>
          <a:lstStyle>
            <a:lvl1pPr marL="0" indent="0">
              <a:buFontTx/>
              <a:buNone/>
              <a:defRPr sz="2880">
                <a:solidFill>
                  <a:schemeClr val="accent1"/>
                </a:solidFill>
              </a:defRPr>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812802" y="5432938"/>
            <a:ext cx="10316002" cy="1816697"/>
          </a:xfrm>
        </p:spPr>
        <p:txBody>
          <a:bodyPr anchor="t">
            <a:normAutofit/>
          </a:bodyPr>
          <a:lstStyle>
            <a:lvl1pPr marL="0" indent="0" algn="l">
              <a:buNone/>
              <a:defRPr sz="2160">
                <a:solidFill>
                  <a:schemeClr val="tx1">
                    <a:lumMod val="50000"/>
                    <a:lumOff val="50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8593950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55422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61208" y="731520"/>
            <a:ext cx="1565692" cy="6301741"/>
          </a:xfrm>
        </p:spPr>
        <p:txBody>
          <a:bodyPr vert="eaVert" anchor="ct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812802" y="731520"/>
            <a:ext cx="8472180" cy="630174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700835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20999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08010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190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10160"/>
            <a:ext cx="14630400" cy="823976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812801" y="731520"/>
            <a:ext cx="10316002" cy="1584960"/>
          </a:xfrm>
          <a:prstGeom prst="rect">
            <a:avLst/>
          </a:prstGeom>
        </p:spPr>
        <p:txBody>
          <a:bodyPr vert="horz" lIns="91440" tIns="45720" rIns="91440" bIns="45720" rtlCol="0" anchor="t">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812801" y="2592707"/>
            <a:ext cx="10316002" cy="465692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8646160" y="7249635"/>
            <a:ext cx="1094327" cy="438150"/>
          </a:xfrm>
          <a:prstGeom prst="rect">
            <a:avLst/>
          </a:prstGeom>
        </p:spPr>
        <p:txBody>
          <a:bodyPr vert="horz" lIns="91440" tIns="45720" rIns="91440" bIns="45720" rtlCol="0" anchor="ctr"/>
          <a:lstStyle>
            <a:lvl1pPr algn="r">
              <a:defRPr sz="1080">
                <a:solidFill>
                  <a:schemeClr val="tx1">
                    <a:tint val="75000"/>
                  </a:schemeClr>
                </a:solidFill>
              </a:defRPr>
            </a:lvl1pPr>
          </a:lstStyle>
          <a:p>
            <a:fld id="{B61BEF0D-F0BB-DE4B-95CE-6DB70DBA9567}" type="datetimeFigureOut">
              <a:rPr lang="en-US" smtClean="0"/>
              <a:pPr/>
              <a:t>4/19/2026</a:t>
            </a:fld>
            <a:endParaRPr lang="en-US" dirty="0"/>
          </a:p>
        </p:txBody>
      </p:sp>
      <p:sp>
        <p:nvSpPr>
          <p:cNvPr id="5" name="Footer Placeholder 4"/>
          <p:cNvSpPr>
            <a:spLocks noGrp="1"/>
          </p:cNvSpPr>
          <p:nvPr>
            <p:ph type="ftr" sz="quarter" idx="3"/>
          </p:nvPr>
        </p:nvSpPr>
        <p:spPr>
          <a:xfrm>
            <a:off x="812801" y="7249635"/>
            <a:ext cx="7557134" cy="438150"/>
          </a:xfrm>
          <a:prstGeom prst="rect">
            <a:avLst/>
          </a:prstGeom>
        </p:spPr>
        <p:txBody>
          <a:bodyPr vert="horz" lIns="91440" tIns="45720" rIns="91440" bIns="45720" rtlCol="0" anchor="ctr"/>
          <a:lstStyle>
            <a:lvl1pPr algn="l">
              <a:defRPr sz="108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308796" y="7249635"/>
            <a:ext cx="820007" cy="438150"/>
          </a:xfrm>
          <a:prstGeom prst="rect">
            <a:avLst/>
          </a:prstGeom>
        </p:spPr>
        <p:txBody>
          <a:bodyPr vert="horz" lIns="91440" tIns="45720" rIns="91440" bIns="45720" rtlCol="0" anchor="ctr"/>
          <a:lstStyle>
            <a:lvl1pPr algn="r">
              <a:defRPr sz="108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46452736"/>
      </p:ext>
    </p:extLst>
  </p:cSld>
  <p:clrMap bg1="lt1" tx1="dk1" bg2="lt2" tx2="dk2" accent1="accent1" accent2="accent2" accent3="accent3" accent4="accent4" accent5="accent5" accent6="accent6" hlink="hlink" folHlink="folHlink"/>
  <p:sldLayoutIdLst>
    <p:sldLayoutId id="2147484130" r:id="rId1"/>
    <p:sldLayoutId id="2147484131" r:id="rId2"/>
    <p:sldLayoutId id="2147484132" r:id="rId3"/>
    <p:sldLayoutId id="2147484133" r:id="rId4"/>
    <p:sldLayoutId id="2147484134" r:id="rId5"/>
    <p:sldLayoutId id="2147484135" r:id="rId6"/>
    <p:sldLayoutId id="2147484136" r:id="rId7"/>
    <p:sldLayoutId id="2147484137" r:id="rId8"/>
    <p:sldLayoutId id="2147484138" r:id="rId9"/>
    <p:sldLayoutId id="2147484139" r:id="rId10"/>
    <p:sldLayoutId id="2147484140" r:id="rId11"/>
    <p:sldLayoutId id="2147484141" r:id="rId12"/>
    <p:sldLayoutId id="2147484142" r:id="rId13"/>
    <p:sldLayoutId id="2147484143" r:id="rId14"/>
    <p:sldLayoutId id="2147484144" r:id="rId15"/>
    <p:sldLayoutId id="2147484145" r:id="rId16"/>
    <p:sldLayoutId id="2147484146" r:id="rId17"/>
    <p:sldLayoutId id="2147484147" r:id="rId18"/>
    <p:sldLayoutId id="2147484148" r:id="rId19"/>
  </p:sldLayoutIdLst>
  <p:hf sldNum="0" hdr="0" ftr="0" dt="0"/>
  <p:txStyles>
    <p:titleStyle>
      <a:lvl1pPr algn="l" defTabSz="548640" rtl="0" eaLnBrk="1" latinLnBrk="0" hangingPunct="1">
        <a:spcBef>
          <a:spcPct val="0"/>
        </a:spcBef>
        <a:buNone/>
        <a:defRPr sz="432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11480" indent="-411480" algn="l" defTabSz="548640" rtl="0" eaLnBrk="1" latinLnBrk="0" hangingPunct="1">
        <a:spcBef>
          <a:spcPts val="1200"/>
        </a:spcBef>
        <a:spcAft>
          <a:spcPts val="0"/>
        </a:spcAft>
        <a:buClr>
          <a:schemeClr val="accent1"/>
        </a:buClr>
        <a:buSzPct val="80000"/>
        <a:buFont typeface="Wingdings 3" charset="2"/>
        <a:buChar char=""/>
        <a:defRPr sz="2160" kern="1200">
          <a:solidFill>
            <a:schemeClr val="tx1">
              <a:lumMod val="75000"/>
              <a:lumOff val="25000"/>
            </a:schemeClr>
          </a:solidFill>
          <a:latin typeface="+mn-lt"/>
          <a:ea typeface="+mn-ea"/>
          <a:cs typeface="+mn-cs"/>
        </a:defRPr>
      </a:lvl1pPr>
      <a:lvl2pPr marL="891540" indent="-342900" algn="l" defTabSz="548640" rtl="0" eaLnBrk="1" latinLnBrk="0" hangingPunct="1">
        <a:spcBef>
          <a:spcPts val="1200"/>
        </a:spcBef>
        <a:spcAft>
          <a:spcPts val="0"/>
        </a:spcAft>
        <a:buClr>
          <a:schemeClr val="accent1"/>
        </a:buClr>
        <a:buSzPct val="80000"/>
        <a:buFont typeface="Wingdings 3" charset="2"/>
        <a:buChar char=""/>
        <a:defRPr sz="1920" kern="1200">
          <a:solidFill>
            <a:schemeClr val="tx1">
              <a:lumMod val="75000"/>
              <a:lumOff val="25000"/>
            </a:schemeClr>
          </a:solidFill>
          <a:latin typeface="+mn-lt"/>
          <a:ea typeface="+mn-ea"/>
          <a:cs typeface="+mn-cs"/>
        </a:defRPr>
      </a:lvl2pPr>
      <a:lvl3pPr marL="1371600" indent="-274320" algn="l" defTabSz="548640" rtl="0" eaLnBrk="1" latinLnBrk="0" hangingPunct="1">
        <a:spcBef>
          <a:spcPts val="1200"/>
        </a:spcBef>
        <a:spcAft>
          <a:spcPts val="0"/>
        </a:spcAft>
        <a:buClr>
          <a:schemeClr val="accent1"/>
        </a:buClr>
        <a:buSzPct val="80000"/>
        <a:buFont typeface="Wingdings 3" charset="2"/>
        <a:buChar char=""/>
        <a:defRPr sz="1680" kern="1200">
          <a:solidFill>
            <a:schemeClr val="tx1">
              <a:lumMod val="75000"/>
              <a:lumOff val="25000"/>
            </a:schemeClr>
          </a:solidFill>
          <a:latin typeface="+mn-lt"/>
          <a:ea typeface="+mn-ea"/>
          <a:cs typeface="+mn-cs"/>
        </a:defRPr>
      </a:lvl3pPr>
      <a:lvl4pPr marL="19202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4pPr>
      <a:lvl5pPr marL="246888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5pPr>
      <a:lvl6pPr marL="301752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6pPr>
      <a:lvl7pPr marL="356616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7pPr>
      <a:lvl8pPr marL="411480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8pPr>
      <a:lvl9pPr marL="4663440" indent="-274320" algn="l" defTabSz="548640" rtl="0" eaLnBrk="1" latinLnBrk="0" hangingPunct="1">
        <a:spcBef>
          <a:spcPts val="1200"/>
        </a:spcBef>
        <a:spcAft>
          <a:spcPts val="0"/>
        </a:spcAft>
        <a:buClr>
          <a:schemeClr val="accent1"/>
        </a:buClr>
        <a:buSzPct val="80000"/>
        <a:buFont typeface="Wingdings 3" charset="2"/>
        <a:buChar char=""/>
        <a:defRPr sz="1440" kern="1200">
          <a:solidFill>
            <a:schemeClr val="tx1">
              <a:lumMod val="75000"/>
              <a:lumOff val="25000"/>
            </a:schemeClr>
          </a:solidFill>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280190" y="358219"/>
            <a:ext cx="7556421" cy="7626283"/>
          </a:xfrm>
          <a:prstGeom prst="rect">
            <a:avLst/>
          </a:prstGeom>
          <a:noFill/>
          <a:ln/>
        </p:spPr>
        <p:txBody>
          <a:bodyPr wrap="square" lIns="0" tIns="0" rIns="0" bIns="0" rtlCol="0" anchor="t"/>
          <a:lstStyle/>
          <a:p>
            <a:pPr algn="ctr"/>
            <a:r>
              <a:rPr lang="kk-KZ" sz="3200" b="1" dirty="0">
                <a:latin typeface="Times New Roman" pitchFamily="18" charset="0"/>
                <a:ea typeface="Calibri" panose="020F0502020204030204" pitchFamily="34" charset="0"/>
                <a:cs typeface="Times New Roman" pitchFamily="18" charset="0"/>
              </a:rPr>
              <a:t>ҚЫЗЫЛОРДА АШЫҚ УНИВЕРСИТЕТІ</a:t>
            </a:r>
            <a:endParaRPr lang="ru-RU" sz="3200" dirty="0">
              <a:latin typeface="Times New Roman" pitchFamily="18" charset="0"/>
              <a:ea typeface="Calibri" panose="020F0502020204030204" pitchFamily="34" charset="0"/>
              <a:cs typeface="Times New Roman" pitchFamily="18" charset="0"/>
            </a:endParaRPr>
          </a:p>
          <a:p>
            <a:pPr algn="ctr"/>
            <a:endParaRPr lang="ru-RU" sz="3200" dirty="0">
              <a:latin typeface="Times New Roman" pitchFamily="18" charset="0"/>
              <a:ea typeface="Calibri" panose="020F0502020204030204" pitchFamily="34" charset="0"/>
              <a:cs typeface="Times New Roman" pitchFamily="18" charset="0"/>
            </a:endParaRPr>
          </a:p>
          <a:p>
            <a:pPr algn="ctr"/>
            <a:r>
              <a:rPr lang="ru-RU" sz="3200" dirty="0">
                <a:latin typeface="Times New Roman" pitchFamily="18" charset="0"/>
                <a:ea typeface="Calibri" panose="020F0502020204030204" pitchFamily="34" charset="0"/>
                <a:cs typeface="Times New Roman" pitchFamily="18" charset="0"/>
              </a:rPr>
              <a:t>«Экономика </a:t>
            </a:r>
            <a:r>
              <a:rPr lang="ru-RU" sz="3200" dirty="0" err="1">
                <a:latin typeface="Times New Roman" pitchFamily="18" charset="0"/>
                <a:ea typeface="Calibri" panose="020F0502020204030204" pitchFamily="34" charset="0"/>
                <a:cs typeface="Times New Roman" pitchFamily="18" charset="0"/>
              </a:rPr>
              <a:t>және</a:t>
            </a:r>
            <a:r>
              <a:rPr lang="ru-RU" sz="3200" dirty="0">
                <a:latin typeface="Times New Roman" pitchFamily="18" charset="0"/>
                <a:ea typeface="Calibri" panose="020F0502020204030204" pitchFamily="34" charset="0"/>
                <a:cs typeface="Times New Roman" pitchFamily="18" charset="0"/>
              </a:rPr>
              <a:t> </a:t>
            </a:r>
            <a:r>
              <a:rPr lang="ru-RU" sz="3200" dirty="0" err="1">
                <a:latin typeface="Times New Roman" pitchFamily="18" charset="0"/>
                <a:ea typeface="Calibri" panose="020F0502020204030204" pitchFamily="34" charset="0"/>
                <a:cs typeface="Times New Roman" pitchFamily="18" charset="0"/>
              </a:rPr>
              <a:t>басқару</a:t>
            </a:r>
            <a:r>
              <a:rPr lang="ru-RU" sz="3200" dirty="0">
                <a:latin typeface="Times New Roman" pitchFamily="18" charset="0"/>
                <a:ea typeface="Calibri" panose="020F0502020204030204" pitchFamily="34" charset="0"/>
                <a:cs typeface="Times New Roman" pitchFamily="18" charset="0"/>
              </a:rPr>
              <a:t>» </a:t>
            </a:r>
            <a:r>
              <a:rPr lang="ru-RU" sz="3200" dirty="0" err="1">
                <a:latin typeface="Times New Roman" pitchFamily="18" charset="0"/>
                <a:ea typeface="Calibri" panose="020F0502020204030204" pitchFamily="34" charset="0"/>
                <a:cs typeface="Times New Roman" pitchFamily="18" charset="0"/>
              </a:rPr>
              <a:t>кафедрасы</a:t>
            </a:r>
            <a:r>
              <a:rPr lang="ru-RU" sz="3200" dirty="0">
                <a:latin typeface="Times New Roman" pitchFamily="18" charset="0"/>
                <a:ea typeface="Calibri" panose="020F0502020204030204" pitchFamily="34" charset="0"/>
                <a:cs typeface="Times New Roman" pitchFamily="18" charset="0"/>
              </a:rPr>
              <a:t> </a:t>
            </a:r>
          </a:p>
          <a:p>
            <a:pPr algn="ctr"/>
            <a:endParaRPr lang="ru-RU" sz="3200" dirty="0">
              <a:latin typeface="Calibri" panose="020F0502020204030204" pitchFamily="34" charset="0"/>
              <a:ea typeface="Calibri" panose="020F0502020204030204" pitchFamily="34" charset="0"/>
              <a:cs typeface="Calibri" panose="020F0502020204030204" pitchFamily="34" charset="0"/>
            </a:endParaRPr>
          </a:p>
          <a:p>
            <a:pPr algn="ctr"/>
            <a:endParaRPr lang="ru-RU" sz="3200" dirty="0">
              <a:latin typeface="Times New Roman" pitchFamily="18" charset="0"/>
              <a:ea typeface="Calibri" panose="020F0502020204030204" pitchFamily="34" charset="0"/>
              <a:cs typeface="Times New Roman" pitchFamily="18" charset="0"/>
            </a:endParaRPr>
          </a:p>
          <a:p>
            <a:pPr algn="ctr"/>
            <a:endParaRPr lang="ru-RU" sz="4000" dirty="0">
              <a:latin typeface="Times New Roman" pitchFamily="18" charset="0"/>
              <a:ea typeface="Calibri" panose="020F0502020204030204" pitchFamily="34" charset="0"/>
              <a:cs typeface="Times New Roman" pitchFamily="18" charset="0"/>
            </a:endParaRPr>
          </a:p>
          <a:p>
            <a:pPr algn="ctr"/>
            <a:r>
              <a:rPr lang="ru-RU" sz="4000" dirty="0" err="1">
                <a:latin typeface="Times New Roman" pitchFamily="18" charset="0"/>
                <a:ea typeface="Calibri" panose="020F0502020204030204" pitchFamily="34" charset="0"/>
                <a:cs typeface="Times New Roman" pitchFamily="18" charset="0"/>
              </a:rPr>
              <a:t>Пән</a:t>
            </a:r>
            <a:r>
              <a:rPr lang="ru-RU" sz="4000" dirty="0">
                <a:latin typeface="Times New Roman" pitchFamily="18" charset="0"/>
                <a:ea typeface="Calibri" panose="020F0502020204030204" pitchFamily="34" charset="0"/>
                <a:cs typeface="Times New Roman" pitchFamily="18" charset="0"/>
              </a:rPr>
              <a:t>:</a:t>
            </a:r>
            <a:r>
              <a:rPr lang="ru-RU" sz="4000" b="1" dirty="0">
                <a:latin typeface="Times New Roman" pitchFamily="18" charset="0"/>
                <a:ea typeface="Calibri" panose="020F0502020204030204" pitchFamily="34" charset="0"/>
                <a:cs typeface="Times New Roman" pitchFamily="18" charset="0"/>
              </a:rPr>
              <a:t> </a:t>
            </a:r>
            <a:r>
              <a:rPr lang="ru-RU" sz="4000" b="1" dirty="0" smtClean="0">
                <a:latin typeface="Times New Roman" pitchFamily="18" charset="0"/>
                <a:ea typeface="Calibri" panose="020F0502020204030204" pitchFamily="34" charset="0"/>
                <a:cs typeface="Times New Roman" pitchFamily="18" charset="0"/>
              </a:rPr>
              <a:t>Менеджмент</a:t>
            </a:r>
            <a:endParaRPr lang="ru-RU" sz="4000" b="1" dirty="0">
              <a:latin typeface="Times New Roman" pitchFamily="18" charset="0"/>
              <a:ea typeface="Calibri" panose="020F0502020204030204" pitchFamily="34" charset="0"/>
              <a:cs typeface="Times New Roman" pitchFamily="18" charset="0"/>
            </a:endParaRPr>
          </a:p>
          <a:p>
            <a:pPr algn="ctr"/>
            <a:endParaRPr lang="ru-RU" sz="3200" b="1" dirty="0">
              <a:latin typeface="Times New Roman" pitchFamily="18" charset="0"/>
              <a:cs typeface="Times New Roman" pitchFamily="18" charset="0"/>
            </a:endParaRPr>
          </a:p>
          <a:p>
            <a:pPr algn="ctr"/>
            <a:endParaRPr lang="kk-KZ" sz="2400" b="1" dirty="0">
              <a:latin typeface="Times New Roman" pitchFamily="18" charset="0"/>
              <a:cs typeface="Times New Roman" pitchFamily="18" charset="0"/>
            </a:endParaRPr>
          </a:p>
          <a:p>
            <a:pPr algn="ctr"/>
            <a:endParaRPr lang="kk-KZ" sz="2400" b="1" dirty="0">
              <a:latin typeface="Times New Roman" pitchFamily="18" charset="0"/>
              <a:cs typeface="Times New Roman" pitchFamily="18" charset="0"/>
            </a:endParaRPr>
          </a:p>
          <a:p>
            <a:pPr algn="ctr"/>
            <a:endParaRPr lang="kk-KZ" sz="2400" b="1" dirty="0">
              <a:latin typeface="Times New Roman" pitchFamily="18" charset="0"/>
              <a:cs typeface="Times New Roman" pitchFamily="18" charset="0"/>
            </a:endParaRPr>
          </a:p>
          <a:p>
            <a:pPr algn="ctr"/>
            <a:endParaRPr lang="kk-KZ" sz="2400" b="1" dirty="0">
              <a:latin typeface="Times New Roman" pitchFamily="18" charset="0"/>
              <a:cs typeface="Times New Roman" pitchFamily="18" charset="0"/>
            </a:endParaRPr>
          </a:p>
          <a:p>
            <a:pPr algn="ctr"/>
            <a:endParaRPr lang="kk-KZ" sz="2400" b="1" dirty="0">
              <a:latin typeface="Times New Roman" pitchFamily="18" charset="0"/>
              <a:ea typeface="Calibri" panose="020F0502020204030204" pitchFamily="34" charset="0"/>
              <a:cs typeface="Times New Roman" pitchFamily="18" charset="0"/>
            </a:endParaRPr>
          </a:p>
          <a:p>
            <a:pPr algn="ctr"/>
            <a:endParaRPr lang="kk-KZ" sz="2400" b="1" dirty="0">
              <a:latin typeface="Times New Roman" pitchFamily="18" charset="0"/>
              <a:ea typeface="Calibri" panose="020F0502020204030204" pitchFamily="34" charset="0"/>
              <a:cs typeface="Times New Roman" pitchFamily="18" charset="0"/>
            </a:endParaRPr>
          </a:p>
          <a:p>
            <a:pPr algn="ctr"/>
            <a:endParaRPr lang="kk-KZ" sz="2400" dirty="0">
              <a:latin typeface="Calibri" panose="020F0502020204030204" pitchFamily="34" charset="0"/>
              <a:ea typeface="Calibri" panose="020F0502020204030204" pitchFamily="34" charset="0"/>
              <a:cs typeface="Calibri" panose="020F0502020204030204" pitchFamily="34" charset="0"/>
            </a:endParaRPr>
          </a:p>
          <a:p>
            <a:pPr algn="ctr"/>
            <a:endParaRPr lang="ru-RU" dirty="0">
              <a:latin typeface="Times New Roman" pitchFamily="18" charset="0"/>
              <a:cs typeface="Times New Roman" pitchFamily="18" charset="0"/>
            </a:endParaRPr>
          </a:p>
          <a:p>
            <a:pPr algn="ctr"/>
            <a:r>
              <a:rPr lang="ru-RU" b="1" i="1" dirty="0">
                <a:latin typeface="Times New Roman" pitchFamily="18" charset="0"/>
                <a:cs typeface="Times New Roman" pitchFamily="18" charset="0"/>
              </a:rPr>
              <a:t> </a:t>
            </a:r>
            <a:endParaRPr lang="ru-RU" dirty="0">
              <a:latin typeface="Times New Roman" pitchFamily="18" charset="0"/>
              <a:cs typeface="Times New Roman" pitchFamily="18" charset="0"/>
            </a:endParaRPr>
          </a:p>
        </p:txBody>
      </p:sp>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828" y="139927"/>
            <a:ext cx="6433458" cy="80227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A428C-2F36-9F70-8479-4BE6CD362DD9}"/>
            </a:ext>
          </a:extLst>
        </p:cNvPr>
        <p:cNvGrpSpPr/>
        <p:nvPr/>
      </p:nvGrpSpPr>
      <p:grpSpPr>
        <a:xfrm>
          <a:off x="0" y="0"/>
          <a:ext cx="0" cy="0"/>
          <a:chOff x="0" y="0"/>
          <a:chExt cx="0" cy="0"/>
        </a:xfrm>
      </p:grpSpPr>
      <p:sp useBgFill="1">
        <p:nvSpPr>
          <p:cNvPr id="4" name="Shape 1">
            <a:extLst>
              <a:ext uri="{FF2B5EF4-FFF2-40B4-BE49-F238E27FC236}">
                <a16:creationId xmlns:a16="http://schemas.microsoft.com/office/drawing/2014/main" id="{78E86FC6-DE8E-28DD-2310-E4C78E53836D}"/>
              </a:ext>
            </a:extLst>
          </p:cNvPr>
          <p:cNvSpPr/>
          <p:nvPr/>
        </p:nvSpPr>
        <p:spPr>
          <a:xfrm>
            <a:off x="5393055" y="1159498"/>
            <a:ext cx="8622983" cy="6217496"/>
          </a:xfrm>
          <a:prstGeom prst="roundRect">
            <a:avLst>
              <a:gd name="adj" fmla="val 2632"/>
            </a:avLst>
          </a:prstGeom>
          <a:ln/>
        </p:spPr>
        <p:txBody>
          <a:bodyPr/>
          <a:lstStyle/>
          <a:p>
            <a:endParaRPr lang="ru-KZ">
              <a:solidFill>
                <a:srgbClr val="00B0F0"/>
              </a:solidFill>
            </a:endParaRPr>
          </a:p>
        </p:txBody>
      </p:sp>
      <p:sp>
        <p:nvSpPr>
          <p:cNvPr id="5" name="Text 2">
            <a:extLst>
              <a:ext uri="{FF2B5EF4-FFF2-40B4-BE49-F238E27FC236}">
                <a16:creationId xmlns:a16="http://schemas.microsoft.com/office/drawing/2014/main" id="{58B1A4AE-9410-A4DC-0B05-9805D3EC8308}"/>
              </a:ext>
            </a:extLst>
          </p:cNvPr>
          <p:cNvSpPr/>
          <p:nvPr/>
        </p:nvSpPr>
        <p:spPr>
          <a:xfrm>
            <a:off x="5616654" y="2196445"/>
            <a:ext cx="7995651" cy="1379360"/>
          </a:xfrm>
          <a:prstGeom prst="rect">
            <a:avLst/>
          </a:prstGeom>
          <a:noFill/>
          <a:ln/>
        </p:spPr>
        <p:txBody>
          <a:bodyPr wrap="none" lIns="0" tIns="0" rIns="0" bIns="0" rtlCol="0" anchor="t"/>
          <a:lstStyle/>
          <a:p>
            <a:pPr marL="0" indent="0" algn="l">
              <a:lnSpc>
                <a:spcPts val="2750"/>
              </a:lnSpc>
              <a:buNone/>
            </a:pPr>
            <a:r>
              <a:rPr lang="kk-KZ" sz="2200" b="1" dirty="0" smtClean="0">
                <a:latin typeface="Times New Roman" panose="02020603050405020304" pitchFamily="18" charset="0"/>
                <a:ea typeface="Inter Bold" pitchFamily="34" charset="-122"/>
                <a:cs typeface="Times New Roman" panose="02020603050405020304" pitchFamily="18" charset="0"/>
              </a:rPr>
              <a:t>                                    </a:t>
            </a:r>
            <a:r>
              <a:rPr lang="kk-KZ" sz="3200" b="1" dirty="0" smtClean="0">
                <a:latin typeface="Times New Roman" panose="02020603050405020304" pitchFamily="18" charset="0"/>
                <a:ea typeface="Inter Bold" pitchFamily="34" charset="-122"/>
                <a:cs typeface="Times New Roman" panose="02020603050405020304" pitchFamily="18" charset="0"/>
              </a:rPr>
              <a:t>Пән оқытушысы</a:t>
            </a:r>
            <a:endParaRPr lang="en-US" sz="3200" dirty="0">
              <a:latin typeface="Times New Roman" panose="02020603050405020304" pitchFamily="18" charset="0"/>
              <a:cs typeface="Times New Roman" panose="02020603050405020304" pitchFamily="18" charset="0"/>
            </a:endParaRPr>
          </a:p>
        </p:txBody>
      </p:sp>
      <p:sp>
        <p:nvSpPr>
          <p:cNvPr id="6" name="Text 3">
            <a:extLst>
              <a:ext uri="{FF2B5EF4-FFF2-40B4-BE49-F238E27FC236}">
                <a16:creationId xmlns:a16="http://schemas.microsoft.com/office/drawing/2014/main" id="{3FCD3EAF-D0B9-3407-8893-5751DD995E8D}"/>
              </a:ext>
            </a:extLst>
          </p:cNvPr>
          <p:cNvSpPr/>
          <p:nvPr/>
        </p:nvSpPr>
        <p:spPr>
          <a:xfrm>
            <a:off x="5616654" y="3205113"/>
            <a:ext cx="8175784" cy="1811824"/>
          </a:xfrm>
          <a:prstGeom prst="rect">
            <a:avLst/>
          </a:prstGeom>
          <a:noFill/>
          <a:ln/>
        </p:spPr>
        <p:txBody>
          <a:bodyPr wrap="square" lIns="0" tIns="0" rIns="0" bIns="0" rtlCol="0" anchor="t"/>
          <a:lstStyle/>
          <a:p>
            <a:pPr algn="ctr">
              <a:lnSpc>
                <a:spcPts val="2750"/>
              </a:lnSpc>
              <a:buSzPct val="100000"/>
            </a:pPr>
            <a:r>
              <a:rPr lang="kk-KZ" sz="3200" dirty="0" smtClean="0">
                <a:latin typeface="Times New Roman" panose="02020603050405020304" pitchFamily="18" charset="0"/>
                <a:cs typeface="Times New Roman" panose="02020603050405020304" pitchFamily="18" charset="0"/>
              </a:rPr>
              <a:t>Примжанова Амина Абуталиповна</a:t>
            </a:r>
            <a:endParaRPr lang="en-US" sz="3200" dirty="0">
              <a:latin typeface="Times New Roman" panose="02020603050405020304" pitchFamily="18" charset="0"/>
              <a:cs typeface="Times New Roman" panose="02020603050405020304" pitchFamily="18" charset="0"/>
            </a:endParaRPr>
          </a:p>
        </p:txBody>
      </p:sp>
      <p:sp>
        <p:nvSpPr>
          <p:cNvPr id="7" name="Text 4">
            <a:extLst>
              <a:ext uri="{FF2B5EF4-FFF2-40B4-BE49-F238E27FC236}">
                <a16:creationId xmlns:a16="http://schemas.microsoft.com/office/drawing/2014/main" id="{2E6B6D3E-4AE9-078F-88F8-E692F2FBB934}"/>
              </a:ext>
            </a:extLst>
          </p:cNvPr>
          <p:cNvSpPr/>
          <p:nvPr/>
        </p:nvSpPr>
        <p:spPr>
          <a:xfrm>
            <a:off x="5616654" y="4194928"/>
            <a:ext cx="8175784" cy="1731289"/>
          </a:xfrm>
          <a:prstGeom prst="rect">
            <a:avLst/>
          </a:prstGeom>
          <a:noFill/>
          <a:ln/>
        </p:spPr>
        <p:txBody>
          <a:bodyPr wrap="square" lIns="0" tIns="0" rIns="0" bIns="0" rtlCol="0" anchor="t"/>
          <a:lstStyle/>
          <a:p>
            <a:pPr marL="0" indent="0" algn="ctr">
              <a:lnSpc>
                <a:spcPts val="2750"/>
              </a:lnSpc>
              <a:buNone/>
            </a:pPr>
            <a:r>
              <a:rPr lang="kk-KZ" sz="2800" dirty="0">
                <a:latin typeface="Times New Roman" panose="02020603050405020304" pitchFamily="18" charset="0"/>
                <a:ea typeface="Inter" pitchFamily="34" charset="-122"/>
                <a:cs typeface="Times New Roman" panose="02020603050405020304" pitchFamily="18" charset="0"/>
              </a:rPr>
              <a:t>«Экономика және басқару» кафедрасының аға оқытушысы</a:t>
            </a:r>
            <a:endParaRPr lang="en-US" sz="2800" dirty="0">
              <a:latin typeface="Times New Roman" panose="02020603050405020304" pitchFamily="18" charset="0"/>
              <a:cs typeface="Times New Roman" panose="02020603050405020304" pitchFamily="18" charset="0"/>
            </a:endParaRPr>
          </a:p>
        </p:txBody>
      </p:sp>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370" y="293915"/>
            <a:ext cx="5932716" cy="7815942"/>
          </a:xfrm>
          <a:prstGeom prst="rect">
            <a:avLst/>
          </a:prstGeom>
        </p:spPr>
      </p:pic>
    </p:spTree>
    <p:extLst>
      <p:ext uri="{BB962C8B-B14F-4D97-AF65-F5344CB8AC3E}">
        <p14:creationId xmlns:p14="http://schemas.microsoft.com/office/powerpoint/2010/main" val="3289612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8316686" y="1962983"/>
            <a:ext cx="5246557" cy="566976"/>
          </a:xfrm>
          <a:prstGeom prst="rect">
            <a:avLst/>
          </a:prstGeom>
          <a:noFill/>
          <a:ln/>
        </p:spPr>
        <p:txBody>
          <a:bodyPr wrap="none" lIns="0" tIns="0" rIns="0" bIns="0" rtlCol="0" anchor="t"/>
          <a:lstStyle/>
          <a:p>
            <a:pPr marL="0" indent="0" algn="ctr">
              <a:lnSpc>
                <a:spcPts val="4450"/>
              </a:lnSpc>
              <a:buNone/>
            </a:pPr>
            <a:endParaRPr lang="en-US" sz="4000" dirty="0"/>
          </a:p>
        </p:txBody>
      </p:sp>
      <p:sp>
        <p:nvSpPr>
          <p:cNvPr id="4" name="Text 1"/>
          <p:cNvSpPr/>
          <p:nvPr/>
        </p:nvSpPr>
        <p:spPr>
          <a:xfrm>
            <a:off x="6528122" y="1798864"/>
            <a:ext cx="7759615" cy="2476500"/>
          </a:xfrm>
          <a:prstGeom prst="rect">
            <a:avLst/>
          </a:prstGeom>
          <a:noFill/>
          <a:ln/>
        </p:spPr>
        <p:txBody>
          <a:bodyPr wrap="square" lIns="0" tIns="0" rIns="0" bIns="0" rtlCol="0" anchor="t"/>
          <a:lstStyle/>
          <a:p>
            <a:pPr algn="just">
              <a:lnSpc>
                <a:spcPts val="2850"/>
              </a:lnSpc>
            </a:pPr>
            <a:r>
              <a:rPr lang="ru-RU" sz="3500" b="1" dirty="0">
                <a:latin typeface="Times New Roman" panose="02020603050405020304" pitchFamily="18" charset="0"/>
                <a:cs typeface="Times New Roman" panose="02020603050405020304" pitchFamily="18" charset="0"/>
              </a:rPr>
              <a:t>Менеджмент </a:t>
            </a:r>
            <a:r>
              <a:rPr lang="ru-RU" sz="3500" b="1" dirty="0" err="1">
                <a:latin typeface="Times New Roman" panose="02020603050405020304" pitchFamily="18" charset="0"/>
                <a:cs typeface="Times New Roman" panose="02020603050405020304" pitchFamily="18" charset="0"/>
              </a:rPr>
              <a:t>пәнінің</a:t>
            </a:r>
            <a:r>
              <a:rPr lang="ru-RU" sz="3500" b="1" dirty="0">
                <a:latin typeface="Times New Roman" panose="02020603050405020304" pitchFamily="18" charset="0"/>
                <a:cs typeface="Times New Roman" panose="02020603050405020304" pitchFamily="18" charset="0"/>
              </a:rPr>
              <a:t> </a:t>
            </a:r>
            <a:r>
              <a:rPr lang="ru-RU" sz="3500" b="1" dirty="0" err="1" smtClean="0">
                <a:latin typeface="Times New Roman" panose="02020603050405020304" pitchFamily="18" charset="0"/>
                <a:cs typeface="Times New Roman" panose="02020603050405020304" pitchFamily="18" charset="0"/>
              </a:rPr>
              <a:t>мақсаты</a:t>
            </a:r>
            <a:endParaRPr lang="ru-RU" sz="3500" b="1" dirty="0" smtClean="0">
              <a:latin typeface="Times New Roman" panose="02020603050405020304" pitchFamily="18" charset="0"/>
              <a:cs typeface="Times New Roman" panose="02020603050405020304" pitchFamily="18" charset="0"/>
            </a:endParaRPr>
          </a:p>
          <a:p>
            <a:pPr algn="just">
              <a:lnSpc>
                <a:spcPts val="2850"/>
              </a:lnSpc>
            </a:pPr>
            <a:endParaRPr lang="ru-RU" sz="3200" b="1" dirty="0">
              <a:latin typeface="Times New Roman" panose="02020603050405020304" pitchFamily="18" charset="0"/>
              <a:cs typeface="Times New Roman" panose="02020603050405020304" pitchFamily="18" charset="0"/>
            </a:endParaRPr>
          </a:p>
          <a:p>
            <a:pPr algn="just">
              <a:lnSpc>
                <a:spcPts val="2850"/>
              </a:lnSpc>
            </a:pPr>
            <a:r>
              <a:rPr lang="ru-RU" sz="3200" dirty="0" smtClean="0">
                <a:latin typeface="Times New Roman" panose="02020603050405020304" pitchFamily="18" charset="0"/>
                <a:cs typeface="Times New Roman" panose="02020603050405020304" pitchFamily="18" charset="0"/>
              </a:rPr>
              <a:t> </a:t>
            </a:r>
          </a:p>
          <a:p>
            <a:pPr algn="just">
              <a:lnSpc>
                <a:spcPts val="2850"/>
              </a:lnSpc>
            </a:pPr>
            <a:r>
              <a:rPr lang="ru-RU" sz="3200" dirty="0" err="1" smtClean="0">
                <a:latin typeface="Palatino Linotype" panose="02040502050505030304" pitchFamily="18" charset="0"/>
              </a:rPr>
              <a:t>Менеджменттің</a:t>
            </a:r>
            <a:r>
              <a:rPr lang="ru-RU" sz="3200" dirty="0" smtClean="0">
                <a:latin typeface="Palatino Linotype" panose="02040502050505030304" pitchFamily="18" charset="0"/>
              </a:rPr>
              <a:t> </a:t>
            </a:r>
            <a:r>
              <a:rPr lang="ru-RU" sz="3200" dirty="0" err="1">
                <a:latin typeface="Palatino Linotype" panose="02040502050505030304" pitchFamily="18" charset="0"/>
              </a:rPr>
              <a:t>басты</a:t>
            </a:r>
            <a:r>
              <a:rPr lang="ru-RU" sz="3200" dirty="0">
                <a:latin typeface="Palatino Linotype" panose="02040502050505030304" pitchFamily="18" charset="0"/>
              </a:rPr>
              <a:t> </a:t>
            </a:r>
            <a:r>
              <a:rPr lang="ru-RU" sz="3200" dirty="0" err="1">
                <a:latin typeface="Palatino Linotype" panose="02040502050505030304" pitchFamily="18" charset="0"/>
              </a:rPr>
              <a:t>мақсаты</a:t>
            </a:r>
            <a:r>
              <a:rPr lang="ru-RU" sz="3200" dirty="0">
                <a:latin typeface="Palatino Linotype" panose="02040502050505030304" pitchFamily="18" charset="0"/>
              </a:rPr>
              <a:t> – </a:t>
            </a:r>
            <a:r>
              <a:rPr lang="ru-RU" sz="3200" dirty="0" err="1">
                <a:latin typeface="Palatino Linotype" panose="02040502050505030304" pitchFamily="18" charset="0"/>
              </a:rPr>
              <a:t>өндірістің</a:t>
            </a:r>
            <a:r>
              <a:rPr lang="ru-RU" sz="3200" dirty="0">
                <a:latin typeface="Palatino Linotype" panose="02040502050505030304" pitchFamily="18" charset="0"/>
              </a:rPr>
              <a:t> </a:t>
            </a:r>
            <a:r>
              <a:rPr lang="ru-RU" sz="3200" dirty="0" err="1">
                <a:latin typeface="Palatino Linotype" panose="02040502050505030304" pitchFamily="18" charset="0"/>
              </a:rPr>
              <a:t>жоғары</a:t>
            </a:r>
            <a:r>
              <a:rPr lang="ru-RU" sz="3200" dirty="0">
                <a:latin typeface="Palatino Linotype" panose="02040502050505030304" pitchFamily="18" charset="0"/>
              </a:rPr>
              <a:t> </a:t>
            </a:r>
            <a:r>
              <a:rPr lang="ru-RU" sz="3200" dirty="0" err="1">
                <a:latin typeface="Palatino Linotype" panose="02040502050505030304" pitchFamily="18" charset="0"/>
              </a:rPr>
              <a:t>тиімділігіне</a:t>
            </a:r>
            <a:r>
              <a:rPr lang="ru-RU" sz="3200" dirty="0">
                <a:latin typeface="Palatino Linotype" panose="02040502050505030304" pitchFamily="18" charset="0"/>
              </a:rPr>
              <a:t> </a:t>
            </a:r>
            <a:r>
              <a:rPr lang="ru-RU" sz="3200" dirty="0" err="1">
                <a:latin typeface="Palatino Linotype" panose="02040502050505030304" pitchFamily="18" charset="0"/>
              </a:rPr>
              <a:t>қол</a:t>
            </a:r>
            <a:r>
              <a:rPr lang="ru-RU" sz="3200" dirty="0">
                <a:latin typeface="Palatino Linotype" panose="02040502050505030304" pitchFamily="18" charset="0"/>
              </a:rPr>
              <a:t> </a:t>
            </a:r>
            <a:r>
              <a:rPr lang="ru-RU" sz="3200" dirty="0" err="1">
                <a:latin typeface="Palatino Linotype" panose="02040502050505030304" pitchFamily="18" charset="0"/>
              </a:rPr>
              <a:t>жеткізу</a:t>
            </a:r>
            <a:r>
              <a:rPr lang="ru-RU" sz="3200" dirty="0">
                <a:latin typeface="Palatino Linotype" panose="02040502050505030304" pitchFamily="18" charset="0"/>
              </a:rPr>
              <a:t>, к</a:t>
            </a:r>
            <a:r>
              <a:rPr lang="en-US" sz="3200" dirty="0">
                <a:latin typeface="Palatino Linotype" panose="02040502050505030304" pitchFamily="18" charset="0"/>
              </a:rPr>
              <a:t>ə</a:t>
            </a:r>
            <a:r>
              <a:rPr lang="ru-RU" sz="3200" dirty="0" err="1">
                <a:latin typeface="Palatino Linotype" panose="02040502050505030304" pitchFamily="18" charset="0"/>
              </a:rPr>
              <a:t>сіпорынның</a:t>
            </a:r>
            <a:r>
              <a:rPr lang="ru-RU" sz="3200" dirty="0">
                <a:latin typeface="Palatino Linotype" panose="02040502050505030304" pitchFamily="18" charset="0"/>
              </a:rPr>
              <a:t>, </a:t>
            </a:r>
            <a:r>
              <a:rPr lang="ru-RU" sz="3200" dirty="0" err="1">
                <a:latin typeface="Palatino Linotype" panose="02040502050505030304" pitchFamily="18" charset="0"/>
              </a:rPr>
              <a:t>фирманың</a:t>
            </a:r>
            <a:r>
              <a:rPr lang="ru-RU" sz="3200" dirty="0">
                <a:latin typeface="Palatino Linotype" panose="02040502050505030304" pitchFamily="18" charset="0"/>
              </a:rPr>
              <a:t>, </a:t>
            </a:r>
            <a:r>
              <a:rPr lang="ru-RU" sz="3200" dirty="0" err="1">
                <a:latin typeface="Palatino Linotype" panose="02040502050505030304" pitchFamily="18" charset="0"/>
              </a:rPr>
              <a:t>компанияның</a:t>
            </a:r>
            <a:r>
              <a:rPr lang="ru-RU" sz="3200" dirty="0">
                <a:latin typeface="Palatino Linotype" panose="02040502050505030304" pitchFamily="18" charset="0"/>
              </a:rPr>
              <a:t> </a:t>
            </a:r>
            <a:r>
              <a:rPr lang="ru-RU" sz="3200" dirty="0" err="1">
                <a:latin typeface="Palatino Linotype" panose="02040502050505030304" pitchFamily="18" charset="0"/>
              </a:rPr>
              <a:t>ресурстарын</a:t>
            </a:r>
            <a:r>
              <a:rPr lang="ru-RU" sz="3200" dirty="0">
                <a:latin typeface="Palatino Linotype" panose="02040502050505030304" pitchFamily="18" charset="0"/>
              </a:rPr>
              <a:t> </a:t>
            </a:r>
            <a:r>
              <a:rPr lang="ru-RU" sz="3200" dirty="0" err="1">
                <a:latin typeface="Palatino Linotype" panose="02040502050505030304" pitchFamily="18" charset="0"/>
              </a:rPr>
              <a:t>ұ</a:t>
            </a:r>
            <a:r>
              <a:rPr lang="ru-RU" sz="3200" dirty="0" err="1" smtClean="0">
                <a:latin typeface="Palatino Linotype" panose="02040502050505030304" pitchFamily="18" charset="0"/>
              </a:rPr>
              <a:t>тымды</a:t>
            </a:r>
            <a:r>
              <a:rPr lang="ru-RU" sz="3200" dirty="0" smtClean="0">
                <a:latin typeface="Palatino Linotype" panose="02040502050505030304" pitchFamily="18" charset="0"/>
              </a:rPr>
              <a:t> </a:t>
            </a:r>
            <a:r>
              <a:rPr lang="ru-RU" sz="3200" dirty="0" err="1">
                <a:latin typeface="Palatino Linotype" panose="02040502050505030304" pitchFamily="18" charset="0"/>
              </a:rPr>
              <a:t>пайдалану</a:t>
            </a:r>
            <a:r>
              <a:rPr lang="ru-RU" sz="3200" dirty="0">
                <a:latin typeface="Palatino Linotype" panose="02040502050505030304" pitchFamily="18" charset="0"/>
              </a:rPr>
              <a:t>, к</a:t>
            </a:r>
            <a:r>
              <a:rPr lang="en-US" sz="3200" dirty="0">
                <a:latin typeface="Palatino Linotype" panose="02040502050505030304" pitchFamily="18" charset="0"/>
              </a:rPr>
              <a:t>ə</a:t>
            </a:r>
            <a:r>
              <a:rPr lang="ru-RU" sz="3200" dirty="0" err="1">
                <a:latin typeface="Palatino Linotype" panose="02040502050505030304" pitchFamily="18" charset="0"/>
              </a:rPr>
              <a:t>сіпорынның</a:t>
            </a:r>
            <a:r>
              <a:rPr lang="ru-RU" sz="3200" dirty="0">
                <a:latin typeface="Palatino Linotype" panose="02040502050505030304" pitchFamily="18" charset="0"/>
              </a:rPr>
              <a:t>, </a:t>
            </a:r>
            <a:r>
              <a:rPr lang="ru-RU" sz="3200" dirty="0" err="1">
                <a:latin typeface="Palatino Linotype" panose="02040502050505030304" pitchFamily="18" charset="0"/>
              </a:rPr>
              <a:t>фирманың</a:t>
            </a:r>
            <a:r>
              <a:rPr lang="ru-RU" sz="3200" dirty="0">
                <a:latin typeface="Palatino Linotype" panose="02040502050505030304" pitchFamily="18" charset="0"/>
              </a:rPr>
              <a:t> </a:t>
            </a:r>
            <a:r>
              <a:rPr lang="ru-RU" sz="3200" dirty="0" err="1">
                <a:latin typeface="Palatino Linotype" panose="02040502050505030304" pitchFamily="18" charset="0"/>
              </a:rPr>
              <a:t>басшылығы</a:t>
            </a:r>
            <a:r>
              <a:rPr lang="ru-RU" sz="3200" dirty="0">
                <a:latin typeface="Palatino Linotype" panose="02040502050505030304" pitchFamily="18" charset="0"/>
              </a:rPr>
              <a:t>, </a:t>
            </a:r>
            <a:r>
              <a:rPr lang="ru-RU" sz="3200" dirty="0" err="1">
                <a:latin typeface="Palatino Linotype" panose="02040502050505030304" pitchFamily="18" charset="0"/>
              </a:rPr>
              <a:t>басқарушы</a:t>
            </a:r>
            <a:r>
              <a:rPr lang="ru-RU" sz="3200" dirty="0">
                <a:latin typeface="Palatino Linotype" panose="02040502050505030304" pitchFamily="18" charset="0"/>
              </a:rPr>
              <a:t> орган. </a:t>
            </a:r>
            <a:endParaRPr lang="en-US" sz="3200" dirty="0">
              <a:latin typeface="Palatino Linotype" panose="02040502050505030304" pitchFamily="18" charset="0"/>
              <a:cs typeface="Times New Roman" panose="02020603050405020304" pitchFamily="18" charset="0"/>
            </a:endParaRPr>
          </a:p>
        </p:txBody>
      </p:sp>
      <p:pic>
        <p:nvPicPr>
          <p:cNvPr id="7" name="Рисунок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22563"/>
            <a:ext cx="6192456" cy="670560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10800000" scaled="1"/>
          <a:tileRect/>
        </a:grad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39203" y="1284513"/>
            <a:ext cx="5211874" cy="4713515"/>
          </a:xfrm>
        </p:spPr>
        <p:txBody>
          <a:bodyPr>
            <a:noAutofit/>
          </a:bodyPr>
          <a:lstStyle/>
          <a:p>
            <a:r>
              <a:rPr lang="kk-KZ" sz="6000" dirty="0">
                <a:solidFill>
                  <a:schemeClr val="tx1"/>
                </a:solidFill>
                <a:latin typeface="Times New Roman" panose="02020603050405020304" pitchFamily="18" charset="0"/>
                <a:cs typeface="Times New Roman" panose="02020603050405020304" pitchFamily="18" charset="0"/>
              </a:rPr>
              <a:t>Дәріс </a:t>
            </a:r>
            <a:r>
              <a:rPr lang="kk-KZ" sz="6600" dirty="0" smtClean="0">
                <a:solidFill>
                  <a:schemeClr val="tx1"/>
                </a:solidFill>
                <a:latin typeface="Times New Roman" panose="02020603050405020304" pitchFamily="18" charset="0"/>
                <a:cs typeface="Times New Roman" panose="02020603050405020304" pitchFamily="18" charset="0"/>
              </a:rPr>
              <a:t>тақырыптары</a:t>
            </a:r>
            <a:endParaRPr lang="ru-RU" sz="6600" dirty="0">
              <a:solidFill>
                <a:schemeClr val="tx1"/>
              </a:solidFill>
            </a:endParaRPr>
          </a:p>
        </p:txBody>
      </p:sp>
      <p:sp>
        <p:nvSpPr>
          <p:cNvPr id="4" name="Прямоугольник 3"/>
          <p:cNvSpPr/>
          <p:nvPr/>
        </p:nvSpPr>
        <p:spPr>
          <a:xfrm>
            <a:off x="6787661" y="845781"/>
            <a:ext cx="7315200" cy="7109639"/>
          </a:xfrm>
          <a:prstGeom prst="rect">
            <a:avLst/>
          </a:prstGeom>
        </p:spPr>
        <p:txBody>
          <a:bodyPr>
            <a:spAutoFit/>
          </a:bodyPr>
          <a:lstStyle/>
          <a:p>
            <a:pPr marL="65311" indent="0">
              <a:buNone/>
            </a:pPr>
            <a:r>
              <a:rPr lang="kk-KZ" sz="2400" dirty="0">
                <a:latin typeface="Times New Roman" panose="02020603050405020304" pitchFamily="18" charset="0"/>
                <a:cs typeface="Times New Roman" panose="02020603050405020304" pitchFamily="18" charset="0"/>
              </a:rPr>
              <a:t>01. Менеджменттің  мәні мен  қағидалары</a:t>
            </a:r>
            <a:endParaRPr lang="ru-KZ" sz="2400" dirty="0">
              <a:latin typeface="Times New Roman" panose="02020603050405020304" pitchFamily="18" charset="0"/>
              <a:cs typeface="Times New Roman" panose="02020603050405020304" pitchFamily="18" charset="0"/>
            </a:endParaRPr>
          </a:p>
          <a:p>
            <a:pPr marL="65311" indent="0">
              <a:buNone/>
            </a:pPr>
            <a:r>
              <a:rPr lang="kk-KZ" sz="2400" dirty="0">
                <a:latin typeface="Times New Roman" panose="02020603050405020304" pitchFamily="18" charset="0"/>
                <a:cs typeface="Times New Roman" panose="02020603050405020304" pitchFamily="18" charset="0"/>
              </a:rPr>
              <a:t>02. Басқарудағы жүйелік тәсілдің </a:t>
            </a:r>
            <a:r>
              <a:rPr lang="kk-KZ" sz="2400" dirty="0" smtClean="0">
                <a:latin typeface="Times New Roman" panose="02020603050405020304" pitchFamily="18" charset="0"/>
                <a:cs typeface="Times New Roman" panose="02020603050405020304" pitchFamily="18" charset="0"/>
              </a:rPr>
              <a:t>негіздері</a:t>
            </a:r>
            <a:endParaRPr lang="ru-KZ" sz="2400" dirty="0">
              <a:latin typeface="Times New Roman" panose="02020603050405020304" pitchFamily="18" charset="0"/>
              <a:cs typeface="Times New Roman" panose="02020603050405020304" pitchFamily="18" charset="0"/>
            </a:endParaRPr>
          </a:p>
          <a:p>
            <a:pPr marL="65311" indent="0">
              <a:buNone/>
            </a:pPr>
            <a:r>
              <a:rPr lang="kk-KZ" sz="2400" dirty="0">
                <a:latin typeface="Times New Roman" panose="02020603050405020304" pitchFamily="18" charset="0"/>
                <a:cs typeface="Times New Roman" panose="02020603050405020304" pitchFamily="18" charset="0"/>
              </a:rPr>
              <a:t>03. Менедмент эволюциясы</a:t>
            </a:r>
            <a:endParaRPr lang="ru-KZ" sz="2400" dirty="0">
              <a:latin typeface="Times New Roman" panose="02020603050405020304" pitchFamily="18" charset="0"/>
              <a:cs typeface="Times New Roman" panose="02020603050405020304" pitchFamily="18" charset="0"/>
            </a:endParaRPr>
          </a:p>
          <a:p>
            <a:pPr marL="65311" indent="0">
              <a:buNone/>
            </a:pPr>
            <a:r>
              <a:rPr lang="kk-KZ" sz="2400" dirty="0">
                <a:latin typeface="Times New Roman" panose="02020603050405020304" pitchFamily="18" charset="0"/>
                <a:cs typeface="Times New Roman" panose="02020603050405020304" pitchFamily="18" charset="0"/>
              </a:rPr>
              <a:t>04. Ұйым туралы түсінік және оның түрлері</a:t>
            </a:r>
            <a:endParaRPr lang="ru-KZ" sz="2400" dirty="0">
              <a:latin typeface="Times New Roman" panose="02020603050405020304" pitchFamily="18" charset="0"/>
              <a:cs typeface="Times New Roman" panose="02020603050405020304" pitchFamily="18" charset="0"/>
            </a:endParaRPr>
          </a:p>
          <a:p>
            <a:pPr marL="65311" indent="0">
              <a:buNone/>
            </a:pPr>
            <a:r>
              <a:rPr lang="kk-KZ" sz="2400" dirty="0">
                <a:latin typeface="Times New Roman" panose="02020603050405020304" pitchFamily="18" charset="0"/>
                <a:cs typeface="Times New Roman" panose="02020603050405020304" pitchFamily="18" charset="0"/>
              </a:rPr>
              <a:t>05. Ұйымның ішкі және сыртқы ортасы</a:t>
            </a:r>
            <a:endParaRPr lang="ru-KZ" sz="2400" dirty="0">
              <a:latin typeface="Times New Roman" panose="02020603050405020304" pitchFamily="18" charset="0"/>
              <a:cs typeface="Times New Roman" panose="02020603050405020304" pitchFamily="18" charset="0"/>
            </a:endParaRPr>
          </a:p>
          <a:p>
            <a:pPr marL="65311" indent="0">
              <a:buNone/>
            </a:pPr>
            <a:r>
              <a:rPr lang="kk-KZ" sz="2400" dirty="0">
                <a:latin typeface="Times New Roman" panose="02020603050405020304" pitchFamily="18" charset="0"/>
                <a:cs typeface="Times New Roman" panose="02020603050405020304" pitchFamily="18" charset="0"/>
              </a:rPr>
              <a:t>06. Басқарудың ұйымдастыру құрылымы мен басқару </a:t>
            </a:r>
            <a:r>
              <a:rPr lang="kk-KZ" sz="2400" dirty="0" smtClean="0">
                <a:latin typeface="Times New Roman" panose="02020603050405020304" pitchFamily="18" charset="0"/>
                <a:cs typeface="Times New Roman" panose="02020603050405020304" pitchFamily="18" charset="0"/>
              </a:rPr>
              <a:t>нормасы</a:t>
            </a:r>
            <a:endParaRPr lang="ru-KZ" sz="2400" dirty="0">
              <a:latin typeface="Times New Roman" panose="02020603050405020304" pitchFamily="18" charset="0"/>
              <a:cs typeface="Times New Roman" panose="02020603050405020304" pitchFamily="18" charset="0"/>
            </a:endParaRPr>
          </a:p>
          <a:p>
            <a:pPr marL="65311" indent="0">
              <a:buNone/>
            </a:pPr>
            <a:r>
              <a:rPr lang="kk-KZ" sz="2400" dirty="0">
                <a:latin typeface="Times New Roman" panose="02020603050405020304" pitchFamily="18" charset="0"/>
                <a:cs typeface="Times New Roman" panose="02020603050405020304" pitchFamily="18" charset="0"/>
              </a:rPr>
              <a:t>07. Менеджментті информациямен қамтамасыз ету</a:t>
            </a:r>
            <a:endParaRPr lang="ru-KZ" sz="2400" dirty="0">
              <a:latin typeface="Times New Roman" panose="02020603050405020304" pitchFamily="18" charset="0"/>
              <a:cs typeface="Times New Roman" panose="02020603050405020304" pitchFamily="18" charset="0"/>
            </a:endParaRPr>
          </a:p>
          <a:p>
            <a:pPr marL="65311" indent="0">
              <a:buNone/>
            </a:pPr>
            <a:r>
              <a:rPr lang="kk-KZ" sz="2400" dirty="0">
                <a:latin typeface="Times New Roman" panose="02020603050405020304" pitchFamily="18" charset="0"/>
                <a:cs typeface="Times New Roman" panose="02020603050405020304" pitchFamily="18" charset="0"/>
              </a:rPr>
              <a:t>08. Менеджменттегі басқару шешімдері</a:t>
            </a:r>
            <a:endParaRPr lang="ru-KZ" sz="2400" dirty="0">
              <a:latin typeface="Times New Roman" panose="02020603050405020304" pitchFamily="18" charset="0"/>
              <a:cs typeface="Times New Roman" panose="02020603050405020304" pitchFamily="18" charset="0"/>
            </a:endParaRPr>
          </a:p>
          <a:p>
            <a:pPr marL="65311" indent="0">
              <a:buNone/>
            </a:pPr>
            <a:r>
              <a:rPr lang="kk-KZ" sz="2400" dirty="0">
                <a:latin typeface="Times New Roman" panose="02020603050405020304" pitchFamily="18" charset="0"/>
                <a:cs typeface="Times New Roman" panose="02020603050405020304" pitchFamily="18" charset="0"/>
              </a:rPr>
              <a:t>09. Рыноктық экономикадағы басқару әдістерінің жүйесі</a:t>
            </a:r>
          </a:p>
          <a:p>
            <a:pPr marL="65311" indent="0">
              <a:buNone/>
            </a:pPr>
            <a:r>
              <a:rPr lang="kk-KZ" sz="2400" dirty="0">
                <a:latin typeface="Times New Roman" panose="02020603050405020304" pitchFamily="18" charset="0"/>
                <a:cs typeface="Times New Roman" panose="02020603050405020304" pitchFamily="18" charset="0"/>
              </a:rPr>
              <a:t>10. Ұйымдастыру менеджмент функциясы ретінде</a:t>
            </a:r>
            <a:endParaRPr lang="ru-KZ" sz="2400" dirty="0">
              <a:latin typeface="Times New Roman" panose="02020603050405020304" pitchFamily="18" charset="0"/>
              <a:cs typeface="Times New Roman" panose="02020603050405020304" pitchFamily="18" charset="0"/>
            </a:endParaRPr>
          </a:p>
          <a:p>
            <a:pPr marL="65311" indent="0">
              <a:buNone/>
            </a:pPr>
            <a:r>
              <a:rPr lang="kk-KZ" sz="2400" dirty="0">
                <a:latin typeface="Times New Roman" panose="02020603050405020304" pitchFamily="18" charset="0"/>
                <a:cs typeface="Times New Roman" panose="02020603050405020304" pitchFamily="18" charset="0"/>
              </a:rPr>
              <a:t>11. Менеджменттегі жоспарлау </a:t>
            </a:r>
            <a:br>
              <a:rPr lang="kk-KZ" sz="2400" dirty="0">
                <a:latin typeface="Times New Roman" panose="02020603050405020304" pitchFamily="18" charset="0"/>
                <a:cs typeface="Times New Roman" panose="02020603050405020304" pitchFamily="18" charset="0"/>
              </a:rPr>
            </a:br>
            <a:r>
              <a:rPr lang="kk-KZ" sz="2400" dirty="0">
                <a:latin typeface="Times New Roman" panose="02020603050405020304" pitchFamily="18" charset="0"/>
                <a:cs typeface="Times New Roman" panose="02020603050405020304" pitchFamily="18" charset="0"/>
              </a:rPr>
              <a:t>12. Менеджменттегі мотивация </a:t>
            </a:r>
            <a:br>
              <a:rPr lang="kk-KZ" sz="2400" dirty="0">
                <a:latin typeface="Times New Roman" panose="02020603050405020304" pitchFamily="18" charset="0"/>
                <a:cs typeface="Times New Roman" panose="02020603050405020304" pitchFamily="18" charset="0"/>
              </a:rPr>
            </a:br>
            <a:r>
              <a:rPr lang="kk-KZ" sz="2400" dirty="0">
                <a:latin typeface="Times New Roman" panose="02020603050405020304" pitchFamily="18" charset="0"/>
                <a:cs typeface="Times New Roman" panose="02020603050405020304" pitchFamily="18" charset="0"/>
              </a:rPr>
              <a:t>13. Менеджмент жүйесіндегі бақылау </a:t>
            </a:r>
            <a:br>
              <a:rPr lang="kk-KZ" sz="2400" dirty="0">
                <a:latin typeface="Times New Roman" panose="02020603050405020304" pitchFamily="18" charset="0"/>
                <a:cs typeface="Times New Roman" panose="02020603050405020304" pitchFamily="18" charset="0"/>
              </a:rPr>
            </a:br>
            <a:r>
              <a:rPr lang="kk-KZ" sz="2400" dirty="0">
                <a:latin typeface="Times New Roman" panose="02020603050405020304" pitchFamily="18" charset="0"/>
                <a:cs typeface="Times New Roman" panose="02020603050405020304" pitchFamily="18" charset="0"/>
              </a:rPr>
              <a:t>14. Адам қызметін басқару және топты басқару </a:t>
            </a:r>
            <a:br>
              <a:rPr lang="kk-KZ" sz="2400" dirty="0">
                <a:latin typeface="Times New Roman" panose="02020603050405020304" pitchFamily="18" charset="0"/>
                <a:cs typeface="Times New Roman" panose="02020603050405020304" pitchFamily="18" charset="0"/>
              </a:rPr>
            </a:br>
            <a:r>
              <a:rPr lang="kk-KZ" sz="2400" dirty="0">
                <a:latin typeface="Times New Roman" panose="02020603050405020304" pitchFamily="18" charset="0"/>
                <a:cs typeface="Times New Roman" panose="02020603050405020304" pitchFamily="18" charset="0"/>
              </a:rPr>
              <a:t>15. Лидерлік: басқару стилі мен менеджер имиджі.</a:t>
            </a:r>
            <a:br>
              <a:rPr lang="kk-KZ" sz="2400" dirty="0">
                <a:latin typeface="Times New Roman" panose="02020603050405020304" pitchFamily="18" charset="0"/>
                <a:cs typeface="Times New Roman" panose="02020603050405020304" pitchFamily="18" charset="0"/>
              </a:rPr>
            </a:br>
            <a:endParaRPr lang="ru-KZ" sz="2400" dirty="0">
              <a:latin typeface="Times New Roman" panose="02020603050405020304" pitchFamily="18" charset="0"/>
              <a:cs typeface="Times New Roman" panose="02020603050405020304" pitchFamily="18" charset="0"/>
            </a:endParaRPr>
          </a:p>
          <a:p>
            <a:endParaRPr lang="ru-RU" sz="2400" dirty="0"/>
          </a:p>
        </p:txBody>
      </p:sp>
      <p:pic>
        <p:nvPicPr>
          <p:cNvPr id="6" name="Рисунок 5">
            <a:extLst>
              <a:ext uri="{FF2B5EF4-FFF2-40B4-BE49-F238E27FC236}">
                <a16:creationId xmlns:a16="http://schemas.microsoft.com/office/drawing/2014/main" id="{8F06BE2A-BF59-0A45-CB2D-4DF2B11E3504}"/>
              </a:ext>
            </a:extLst>
          </p:cNvPr>
          <p:cNvPicPr>
            <a:picLocks noChangeAspect="1"/>
          </p:cNvPicPr>
          <p:nvPr/>
        </p:nvPicPr>
        <p:blipFill>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colorTemperature colorTemp="6498"/>
                    </a14:imgEffect>
                    <a14:imgEffect>
                      <a14:saturation sat="96000"/>
                    </a14:imgEffect>
                  </a14:imgLayer>
                </a14:imgProps>
              </a:ext>
              <a:ext uri="{28A0092B-C50C-407E-A947-70E740481C1C}">
                <a14:useLocalDpi xmlns:a14="http://schemas.microsoft.com/office/drawing/2010/main" val="0"/>
              </a:ext>
            </a:extLst>
          </a:blip>
          <a:srcRect/>
          <a:stretch/>
        </p:blipFill>
        <p:spPr>
          <a:xfrm>
            <a:off x="1" y="0"/>
            <a:ext cx="14630400" cy="8371113"/>
          </a:xfrm>
          <a:prstGeom prst="rect">
            <a:avLst/>
          </a:prstGeom>
          <a:solidFill>
            <a:schemeClr val="accent1"/>
          </a:solidFill>
        </p:spPr>
      </p:pic>
      <p:sp>
        <p:nvSpPr>
          <p:cNvPr id="7" name="Прямоугольник 6"/>
          <p:cNvSpPr/>
          <p:nvPr/>
        </p:nvSpPr>
        <p:spPr>
          <a:xfrm>
            <a:off x="5896708" y="744647"/>
            <a:ext cx="8510953" cy="7109639"/>
          </a:xfrm>
          <a:prstGeom prst="rect">
            <a:avLst/>
          </a:prstGeom>
        </p:spPr>
        <p:txBody>
          <a:bodyPr wrap="square">
            <a:spAutoFit/>
          </a:bodyPr>
          <a:lstStyle/>
          <a:p>
            <a:pPr marL="65311" lvl="0"/>
            <a:r>
              <a:rPr lang="kk-KZ" sz="2400" dirty="0">
                <a:solidFill>
                  <a:prstClr val="black"/>
                </a:solidFill>
                <a:latin typeface="Times New Roman" panose="02020603050405020304" pitchFamily="18" charset="0"/>
                <a:cs typeface="Times New Roman" panose="02020603050405020304" pitchFamily="18" charset="0"/>
              </a:rPr>
              <a:t>01. Менеджменттің  мәні мен  қағидалары</a:t>
            </a:r>
            <a:endParaRPr lang="ru-KZ" sz="2400" dirty="0">
              <a:solidFill>
                <a:prstClr val="black"/>
              </a:solidFill>
              <a:latin typeface="Times New Roman" panose="02020603050405020304" pitchFamily="18" charset="0"/>
              <a:cs typeface="Times New Roman" panose="02020603050405020304" pitchFamily="18" charset="0"/>
            </a:endParaRPr>
          </a:p>
          <a:p>
            <a:pPr marL="65311" lvl="0"/>
            <a:r>
              <a:rPr lang="kk-KZ" sz="2400" dirty="0">
                <a:solidFill>
                  <a:prstClr val="black"/>
                </a:solidFill>
                <a:latin typeface="Times New Roman" panose="02020603050405020304" pitchFamily="18" charset="0"/>
                <a:cs typeface="Times New Roman" panose="02020603050405020304" pitchFamily="18" charset="0"/>
              </a:rPr>
              <a:t>02. Басқарудағы жүйелік тәсілдің негіздері</a:t>
            </a:r>
            <a:endParaRPr lang="ru-KZ" sz="2400" dirty="0">
              <a:solidFill>
                <a:prstClr val="black"/>
              </a:solidFill>
              <a:latin typeface="Times New Roman" panose="02020603050405020304" pitchFamily="18" charset="0"/>
              <a:cs typeface="Times New Roman" panose="02020603050405020304" pitchFamily="18" charset="0"/>
            </a:endParaRPr>
          </a:p>
          <a:p>
            <a:pPr marL="65311" lvl="0"/>
            <a:r>
              <a:rPr lang="kk-KZ" sz="2400" dirty="0">
                <a:solidFill>
                  <a:prstClr val="black"/>
                </a:solidFill>
                <a:latin typeface="Times New Roman" panose="02020603050405020304" pitchFamily="18" charset="0"/>
                <a:cs typeface="Times New Roman" panose="02020603050405020304" pitchFamily="18" charset="0"/>
              </a:rPr>
              <a:t>03. </a:t>
            </a:r>
            <a:r>
              <a:rPr lang="kk-KZ" sz="2400" dirty="0" smtClean="0">
                <a:solidFill>
                  <a:prstClr val="black"/>
                </a:solidFill>
                <a:latin typeface="Times New Roman" panose="02020603050405020304" pitchFamily="18" charset="0"/>
                <a:cs typeface="Times New Roman" panose="02020603050405020304" pitchFamily="18" charset="0"/>
              </a:rPr>
              <a:t>Менеджмент </a:t>
            </a:r>
            <a:r>
              <a:rPr lang="kk-KZ" sz="2400" dirty="0">
                <a:solidFill>
                  <a:prstClr val="black"/>
                </a:solidFill>
                <a:latin typeface="Times New Roman" panose="02020603050405020304" pitchFamily="18" charset="0"/>
                <a:cs typeface="Times New Roman" panose="02020603050405020304" pitchFamily="18" charset="0"/>
              </a:rPr>
              <a:t>эволюциясы</a:t>
            </a:r>
            <a:endParaRPr lang="ru-KZ" sz="2400" dirty="0">
              <a:solidFill>
                <a:prstClr val="black"/>
              </a:solidFill>
              <a:latin typeface="Times New Roman" panose="02020603050405020304" pitchFamily="18" charset="0"/>
              <a:cs typeface="Times New Roman" panose="02020603050405020304" pitchFamily="18" charset="0"/>
            </a:endParaRPr>
          </a:p>
          <a:p>
            <a:pPr marL="65311" lvl="0"/>
            <a:r>
              <a:rPr lang="kk-KZ" sz="2400" dirty="0">
                <a:solidFill>
                  <a:prstClr val="black"/>
                </a:solidFill>
                <a:latin typeface="Times New Roman" panose="02020603050405020304" pitchFamily="18" charset="0"/>
                <a:cs typeface="Times New Roman" panose="02020603050405020304" pitchFamily="18" charset="0"/>
              </a:rPr>
              <a:t>04. Ұйым туралы түсінік және оның түрлері</a:t>
            </a:r>
            <a:endParaRPr lang="ru-KZ" sz="2400" dirty="0">
              <a:solidFill>
                <a:prstClr val="black"/>
              </a:solidFill>
              <a:latin typeface="Times New Roman" panose="02020603050405020304" pitchFamily="18" charset="0"/>
              <a:cs typeface="Times New Roman" panose="02020603050405020304" pitchFamily="18" charset="0"/>
            </a:endParaRPr>
          </a:p>
          <a:p>
            <a:pPr marL="65311" lvl="0"/>
            <a:r>
              <a:rPr lang="kk-KZ" sz="2400" dirty="0">
                <a:solidFill>
                  <a:prstClr val="black"/>
                </a:solidFill>
                <a:latin typeface="Times New Roman" panose="02020603050405020304" pitchFamily="18" charset="0"/>
                <a:cs typeface="Times New Roman" panose="02020603050405020304" pitchFamily="18" charset="0"/>
              </a:rPr>
              <a:t>05. </a:t>
            </a:r>
            <a:r>
              <a:rPr lang="kk-KZ" sz="2400" dirty="0">
                <a:latin typeface="Times New Roman" panose="02020603050405020304" pitchFamily="18" charset="0"/>
                <a:cs typeface="Times New Roman" panose="02020603050405020304" pitchFamily="18" charset="0"/>
              </a:rPr>
              <a:t>Кәсіпорыннын сыртқы және ішкі ортасының бизнестегі мәні мен басқарудың ұйымдастыру </a:t>
            </a:r>
            <a:r>
              <a:rPr lang="kk-KZ" sz="2400" dirty="0" smtClean="0">
                <a:latin typeface="Times New Roman" panose="02020603050405020304" pitchFamily="18" charset="0"/>
                <a:cs typeface="Times New Roman" panose="02020603050405020304" pitchFamily="18" charset="0"/>
              </a:rPr>
              <a:t>құрылымы,басқару </a:t>
            </a:r>
            <a:r>
              <a:rPr lang="kk-KZ" sz="2400" dirty="0">
                <a:latin typeface="Times New Roman" panose="02020603050405020304" pitchFamily="18" charset="0"/>
                <a:cs typeface="Times New Roman" panose="02020603050405020304" pitchFamily="18" charset="0"/>
              </a:rPr>
              <a:t>нормасы</a:t>
            </a:r>
            <a:r>
              <a:rPr lang="kk-KZ" sz="2400" dirty="0" smtClean="0">
                <a:latin typeface="Times New Roman" panose="02020603050405020304" pitchFamily="18" charset="0"/>
                <a:cs typeface="Times New Roman" panose="02020603050405020304" pitchFamily="18" charset="0"/>
              </a:rPr>
              <a:t>.</a:t>
            </a:r>
          </a:p>
          <a:p>
            <a:pPr marL="65311" lvl="0"/>
            <a:r>
              <a:rPr lang="kk-KZ" sz="2400" dirty="0" smtClean="0">
                <a:solidFill>
                  <a:prstClr val="black"/>
                </a:solidFill>
                <a:latin typeface="Times New Roman" panose="02020603050405020304" pitchFamily="18" charset="0"/>
                <a:cs typeface="Times New Roman" panose="02020603050405020304" pitchFamily="18" charset="0"/>
              </a:rPr>
              <a:t>06.Кәсіпорынның менеджмент жүйесіндегі маркетингтің рөлі </a:t>
            </a:r>
            <a:endParaRPr lang="ru-KZ" sz="2400" dirty="0">
              <a:solidFill>
                <a:prstClr val="black"/>
              </a:solidFill>
              <a:latin typeface="Times New Roman" panose="02020603050405020304" pitchFamily="18" charset="0"/>
              <a:cs typeface="Times New Roman" panose="02020603050405020304" pitchFamily="18" charset="0"/>
            </a:endParaRPr>
          </a:p>
          <a:p>
            <a:pPr marL="65311" lvl="0"/>
            <a:r>
              <a:rPr lang="kk-KZ" sz="2400" dirty="0">
                <a:solidFill>
                  <a:prstClr val="black"/>
                </a:solidFill>
                <a:latin typeface="Times New Roman" panose="02020603050405020304" pitchFamily="18" charset="0"/>
                <a:cs typeface="Times New Roman" panose="02020603050405020304" pitchFamily="18" charset="0"/>
              </a:rPr>
              <a:t>07. Менеджментті </a:t>
            </a:r>
            <a:r>
              <a:rPr lang="kk-KZ" sz="2400" dirty="0" smtClean="0">
                <a:solidFill>
                  <a:prstClr val="black"/>
                </a:solidFill>
                <a:latin typeface="Times New Roman" panose="02020603050405020304" pitchFamily="18" charset="0"/>
                <a:cs typeface="Times New Roman" panose="02020603050405020304" pitchFamily="18" charset="0"/>
              </a:rPr>
              <a:t>ақпаратпен қамтамасыз ету</a:t>
            </a:r>
            <a:endParaRPr lang="ru-KZ" sz="2400" dirty="0">
              <a:solidFill>
                <a:prstClr val="black"/>
              </a:solidFill>
              <a:latin typeface="Times New Roman" panose="02020603050405020304" pitchFamily="18" charset="0"/>
              <a:cs typeface="Times New Roman" panose="02020603050405020304" pitchFamily="18" charset="0"/>
            </a:endParaRPr>
          </a:p>
          <a:p>
            <a:pPr marL="65311" lvl="0"/>
            <a:r>
              <a:rPr lang="kk-KZ" sz="2400" dirty="0">
                <a:solidFill>
                  <a:prstClr val="black"/>
                </a:solidFill>
                <a:latin typeface="Times New Roman" panose="02020603050405020304" pitchFamily="18" charset="0"/>
                <a:cs typeface="Times New Roman" panose="02020603050405020304" pitchFamily="18" charset="0"/>
              </a:rPr>
              <a:t>08. Менеджменттегі басқару </a:t>
            </a:r>
            <a:r>
              <a:rPr lang="kk-KZ" sz="2400" dirty="0" smtClean="0">
                <a:solidFill>
                  <a:prstClr val="black"/>
                </a:solidFill>
                <a:latin typeface="Times New Roman" panose="02020603050405020304" pitchFamily="18" charset="0"/>
                <a:cs typeface="Times New Roman" panose="02020603050405020304" pitchFamily="18" charset="0"/>
              </a:rPr>
              <a:t>шешімдері және менеджмент  тиімділігінің мәні</a:t>
            </a:r>
            <a:endParaRPr lang="ru-KZ" sz="2400" dirty="0">
              <a:solidFill>
                <a:prstClr val="black"/>
              </a:solidFill>
              <a:latin typeface="Times New Roman" panose="02020603050405020304" pitchFamily="18" charset="0"/>
              <a:cs typeface="Times New Roman" panose="02020603050405020304" pitchFamily="18" charset="0"/>
            </a:endParaRPr>
          </a:p>
          <a:p>
            <a:pPr marL="65311" lvl="0"/>
            <a:r>
              <a:rPr lang="kk-KZ" sz="2400" dirty="0">
                <a:solidFill>
                  <a:prstClr val="black"/>
                </a:solidFill>
                <a:latin typeface="Times New Roman" panose="02020603050405020304" pitchFamily="18" charset="0"/>
                <a:cs typeface="Times New Roman" panose="02020603050405020304" pitchFamily="18" charset="0"/>
              </a:rPr>
              <a:t>09. Рыноктық экономикадағы басқару әдістерінің жүйесі</a:t>
            </a:r>
          </a:p>
          <a:p>
            <a:pPr marL="65311" lvl="0"/>
            <a:r>
              <a:rPr lang="kk-KZ" sz="2400" dirty="0">
                <a:solidFill>
                  <a:prstClr val="black"/>
                </a:solidFill>
                <a:latin typeface="Times New Roman" panose="02020603050405020304" pitchFamily="18" charset="0"/>
                <a:cs typeface="Times New Roman" panose="02020603050405020304" pitchFamily="18" charset="0"/>
              </a:rPr>
              <a:t>10. Ұйымдастыру менеджмент функциясы ретінде</a:t>
            </a:r>
            <a:endParaRPr lang="ru-KZ" sz="2400" dirty="0">
              <a:solidFill>
                <a:prstClr val="black"/>
              </a:solidFill>
              <a:latin typeface="Times New Roman" panose="02020603050405020304" pitchFamily="18" charset="0"/>
              <a:cs typeface="Times New Roman" panose="02020603050405020304" pitchFamily="18" charset="0"/>
            </a:endParaRPr>
          </a:p>
          <a:p>
            <a:pPr marL="65311" lvl="0"/>
            <a:r>
              <a:rPr lang="kk-KZ" sz="2400" dirty="0">
                <a:solidFill>
                  <a:prstClr val="black"/>
                </a:solidFill>
                <a:latin typeface="Times New Roman" panose="02020603050405020304" pitchFamily="18" charset="0"/>
                <a:cs typeface="Times New Roman" panose="02020603050405020304" pitchFamily="18" charset="0"/>
              </a:rPr>
              <a:t>11. Менеджменттегі жоспарлау </a:t>
            </a:r>
            <a:br>
              <a:rPr lang="kk-KZ" sz="2400" dirty="0">
                <a:solidFill>
                  <a:prstClr val="black"/>
                </a:solidFill>
                <a:latin typeface="Times New Roman" panose="02020603050405020304" pitchFamily="18" charset="0"/>
                <a:cs typeface="Times New Roman" panose="02020603050405020304" pitchFamily="18" charset="0"/>
              </a:rPr>
            </a:br>
            <a:r>
              <a:rPr lang="kk-KZ" sz="2400" dirty="0">
                <a:solidFill>
                  <a:prstClr val="black"/>
                </a:solidFill>
                <a:latin typeface="Times New Roman" panose="02020603050405020304" pitchFamily="18" charset="0"/>
                <a:cs typeface="Times New Roman" panose="02020603050405020304" pitchFamily="18" charset="0"/>
              </a:rPr>
              <a:t>12. Менеджменттегі мотивация </a:t>
            </a:r>
            <a:br>
              <a:rPr lang="kk-KZ" sz="2400" dirty="0">
                <a:solidFill>
                  <a:prstClr val="black"/>
                </a:solidFill>
                <a:latin typeface="Times New Roman" panose="02020603050405020304" pitchFamily="18" charset="0"/>
                <a:cs typeface="Times New Roman" panose="02020603050405020304" pitchFamily="18" charset="0"/>
              </a:rPr>
            </a:br>
            <a:r>
              <a:rPr lang="kk-KZ" sz="2400" dirty="0">
                <a:solidFill>
                  <a:prstClr val="black"/>
                </a:solidFill>
                <a:latin typeface="Times New Roman" panose="02020603050405020304" pitchFamily="18" charset="0"/>
                <a:cs typeface="Times New Roman" panose="02020603050405020304" pitchFamily="18" charset="0"/>
              </a:rPr>
              <a:t>13. Менеджмент жүйесіндегі бақылау </a:t>
            </a:r>
            <a:br>
              <a:rPr lang="kk-KZ" sz="2400" dirty="0">
                <a:solidFill>
                  <a:prstClr val="black"/>
                </a:solidFill>
                <a:latin typeface="Times New Roman" panose="02020603050405020304" pitchFamily="18" charset="0"/>
                <a:cs typeface="Times New Roman" panose="02020603050405020304" pitchFamily="18" charset="0"/>
              </a:rPr>
            </a:br>
            <a:r>
              <a:rPr lang="kk-KZ" sz="2400" dirty="0">
                <a:solidFill>
                  <a:prstClr val="black"/>
                </a:solidFill>
                <a:latin typeface="Times New Roman" panose="02020603050405020304" pitchFamily="18" charset="0"/>
                <a:cs typeface="Times New Roman" panose="02020603050405020304" pitchFamily="18" charset="0"/>
              </a:rPr>
              <a:t>14. </a:t>
            </a:r>
            <a:r>
              <a:rPr lang="kk-KZ" sz="2400" dirty="0" smtClean="0">
                <a:solidFill>
                  <a:prstClr val="black"/>
                </a:solidFill>
                <a:latin typeface="Times New Roman" panose="02020603050405020304" pitchFamily="18" charset="0"/>
                <a:cs typeface="Times New Roman" panose="02020603050405020304" pitchFamily="18" charset="0"/>
              </a:rPr>
              <a:t> Кәсіпкерлік тәуекел және оның түрлері</a:t>
            </a:r>
            <a:r>
              <a:rPr lang="kk-KZ" sz="2400" dirty="0">
                <a:solidFill>
                  <a:prstClr val="black"/>
                </a:solidFill>
                <a:latin typeface="Times New Roman" panose="02020603050405020304" pitchFamily="18" charset="0"/>
                <a:cs typeface="Times New Roman" panose="02020603050405020304" pitchFamily="18" charset="0"/>
              </a:rPr>
              <a:t/>
            </a:r>
            <a:br>
              <a:rPr lang="kk-KZ" sz="2400" dirty="0">
                <a:solidFill>
                  <a:prstClr val="black"/>
                </a:solidFill>
                <a:latin typeface="Times New Roman" panose="02020603050405020304" pitchFamily="18" charset="0"/>
                <a:cs typeface="Times New Roman" panose="02020603050405020304" pitchFamily="18" charset="0"/>
              </a:rPr>
            </a:br>
            <a:r>
              <a:rPr lang="kk-KZ" sz="2400" dirty="0">
                <a:solidFill>
                  <a:prstClr val="black"/>
                </a:solidFill>
                <a:latin typeface="Times New Roman" panose="02020603050405020304" pitchFamily="18" charset="0"/>
                <a:cs typeface="Times New Roman" panose="02020603050405020304" pitchFamily="18" charset="0"/>
              </a:rPr>
              <a:t>15. </a:t>
            </a:r>
            <a:r>
              <a:rPr lang="kk-KZ" sz="2400" dirty="0" smtClean="0">
                <a:solidFill>
                  <a:prstClr val="black"/>
                </a:solidFill>
                <a:latin typeface="Times New Roman" panose="02020603050405020304" pitchFamily="18" charset="0"/>
                <a:cs typeface="Times New Roman" panose="02020603050405020304" pitchFamily="18" charset="0"/>
              </a:rPr>
              <a:t> Менеджердің тәрбиелік қызметі</a:t>
            </a:r>
            <a:r>
              <a:rPr lang="kk-KZ" sz="2400" dirty="0">
                <a:solidFill>
                  <a:prstClr val="black"/>
                </a:solidFill>
                <a:latin typeface="Times New Roman" panose="02020603050405020304" pitchFamily="18" charset="0"/>
                <a:cs typeface="Times New Roman" panose="02020603050405020304" pitchFamily="18" charset="0"/>
              </a:rPr>
              <a:t/>
            </a:r>
            <a:br>
              <a:rPr lang="kk-KZ" sz="2400" dirty="0">
                <a:solidFill>
                  <a:prstClr val="black"/>
                </a:solidFill>
                <a:latin typeface="Times New Roman" panose="02020603050405020304" pitchFamily="18" charset="0"/>
                <a:cs typeface="Times New Roman" panose="02020603050405020304" pitchFamily="18" charset="0"/>
              </a:rPr>
            </a:br>
            <a:endParaRPr lang="ru-KZ" sz="2400" dirty="0">
              <a:solidFill>
                <a:prstClr val="black"/>
              </a:solidFill>
              <a:latin typeface="Times New Roman" panose="02020603050405020304" pitchFamily="18" charset="0"/>
              <a:cs typeface="Times New Roman" panose="02020603050405020304" pitchFamily="18" charset="0"/>
            </a:endParaRPr>
          </a:p>
        </p:txBody>
      </p:sp>
      <p:sp>
        <p:nvSpPr>
          <p:cNvPr id="9" name="Прямоугольник 8"/>
          <p:cNvSpPr/>
          <p:nvPr/>
        </p:nvSpPr>
        <p:spPr>
          <a:xfrm>
            <a:off x="1324707" y="1606063"/>
            <a:ext cx="3727939" cy="5601533"/>
          </a:xfrm>
          <a:prstGeom prst="rect">
            <a:avLst/>
          </a:prstGeom>
        </p:spPr>
        <p:txBody>
          <a:bodyPr wrap="square">
            <a:spAutoFit/>
          </a:bodyPr>
          <a:lstStyle/>
          <a:p>
            <a:pPr marL="65311" indent="0">
              <a:buNone/>
            </a:pPr>
            <a:r>
              <a:rPr lang="kk-KZ" sz="4400" dirty="0">
                <a:latin typeface="Times New Roman" panose="02020603050405020304" pitchFamily="18" charset="0"/>
                <a:cs typeface="Times New Roman" panose="02020603050405020304" pitchFamily="18" charset="0"/>
              </a:rPr>
              <a:t>Дәріс </a:t>
            </a:r>
            <a:r>
              <a:rPr lang="kk-KZ" sz="4400" dirty="0" smtClean="0">
                <a:latin typeface="Times New Roman" panose="02020603050405020304" pitchFamily="18" charset="0"/>
                <a:cs typeface="Times New Roman" panose="02020603050405020304" pitchFamily="18" charset="0"/>
              </a:rPr>
              <a:t>тақырыптары</a:t>
            </a:r>
          </a:p>
          <a:p>
            <a:pPr marL="65311" indent="0">
              <a:buNone/>
            </a:pPr>
            <a:endParaRPr lang="kk-KZ" dirty="0">
              <a:latin typeface="Times New Roman" panose="02020603050405020304" pitchFamily="18" charset="0"/>
              <a:cs typeface="Times New Roman" panose="02020603050405020304" pitchFamily="18" charset="0"/>
            </a:endParaRPr>
          </a:p>
          <a:p>
            <a:pPr marL="65311" indent="0">
              <a:buNone/>
            </a:pPr>
            <a:endParaRPr lang="kk-KZ" dirty="0" smtClean="0">
              <a:latin typeface="Times New Roman" panose="02020603050405020304" pitchFamily="18" charset="0"/>
              <a:cs typeface="Times New Roman" panose="02020603050405020304" pitchFamily="18" charset="0"/>
            </a:endParaRPr>
          </a:p>
          <a:p>
            <a:pPr marL="65311" indent="0">
              <a:buNone/>
            </a:pPr>
            <a:endParaRPr lang="kk-KZ" dirty="0">
              <a:latin typeface="Times New Roman" panose="02020603050405020304" pitchFamily="18" charset="0"/>
              <a:cs typeface="Times New Roman" panose="02020603050405020304" pitchFamily="18" charset="0"/>
            </a:endParaRPr>
          </a:p>
          <a:p>
            <a:pPr marL="65311" indent="0">
              <a:buNone/>
            </a:pPr>
            <a:endParaRPr lang="kk-KZ" dirty="0" smtClean="0">
              <a:latin typeface="Times New Roman" panose="02020603050405020304" pitchFamily="18" charset="0"/>
              <a:cs typeface="Times New Roman" panose="02020603050405020304" pitchFamily="18" charset="0"/>
            </a:endParaRPr>
          </a:p>
          <a:p>
            <a:pPr marL="65311" indent="0">
              <a:buNone/>
            </a:pPr>
            <a:endParaRPr lang="kk-KZ" dirty="0">
              <a:latin typeface="Times New Roman" panose="02020603050405020304" pitchFamily="18" charset="0"/>
              <a:cs typeface="Times New Roman" panose="02020603050405020304" pitchFamily="18" charset="0"/>
            </a:endParaRPr>
          </a:p>
          <a:p>
            <a:pPr marL="65311" indent="0">
              <a:buNone/>
            </a:pPr>
            <a:endParaRPr lang="kk-KZ" dirty="0" smtClean="0">
              <a:latin typeface="Times New Roman" panose="02020603050405020304" pitchFamily="18" charset="0"/>
              <a:cs typeface="Times New Roman" panose="02020603050405020304" pitchFamily="18" charset="0"/>
            </a:endParaRPr>
          </a:p>
          <a:p>
            <a:pPr marL="65311" indent="0">
              <a:buNone/>
            </a:pPr>
            <a:endParaRPr lang="kk-KZ" dirty="0">
              <a:latin typeface="Times New Roman" panose="02020603050405020304" pitchFamily="18" charset="0"/>
              <a:cs typeface="Times New Roman" panose="02020603050405020304" pitchFamily="18" charset="0"/>
            </a:endParaRPr>
          </a:p>
          <a:p>
            <a:pPr marL="65311" indent="0">
              <a:buNone/>
            </a:pPr>
            <a:endParaRPr lang="kk-KZ" dirty="0" smtClean="0">
              <a:latin typeface="Times New Roman" panose="02020603050405020304" pitchFamily="18" charset="0"/>
              <a:cs typeface="Times New Roman" panose="02020603050405020304" pitchFamily="18" charset="0"/>
            </a:endParaRPr>
          </a:p>
          <a:p>
            <a:pPr marL="65311" indent="0">
              <a:buNone/>
            </a:pPr>
            <a:endParaRPr lang="kk-KZ" dirty="0">
              <a:latin typeface="Times New Roman" panose="02020603050405020304" pitchFamily="18" charset="0"/>
              <a:cs typeface="Times New Roman" panose="02020603050405020304" pitchFamily="18" charset="0"/>
            </a:endParaRPr>
          </a:p>
          <a:p>
            <a:pPr marL="65311" indent="0">
              <a:buNone/>
            </a:pPr>
            <a:endParaRPr lang="kk-KZ" dirty="0" smtClean="0">
              <a:latin typeface="Times New Roman" panose="02020603050405020304" pitchFamily="18" charset="0"/>
              <a:cs typeface="Times New Roman" panose="02020603050405020304" pitchFamily="18" charset="0"/>
            </a:endParaRPr>
          </a:p>
          <a:p>
            <a:pPr marL="65311" indent="0">
              <a:buNone/>
            </a:pPr>
            <a:endParaRPr lang="kk-KZ" dirty="0">
              <a:latin typeface="Times New Roman" panose="02020603050405020304" pitchFamily="18" charset="0"/>
              <a:cs typeface="Times New Roman" panose="02020603050405020304" pitchFamily="18" charset="0"/>
            </a:endParaRPr>
          </a:p>
          <a:p>
            <a:pPr marL="65311" indent="0">
              <a:buNone/>
            </a:pPr>
            <a:endParaRPr lang="kk-KZ" dirty="0" smtClean="0">
              <a:latin typeface="Times New Roman" panose="02020603050405020304" pitchFamily="18" charset="0"/>
              <a:cs typeface="Times New Roman" panose="02020603050405020304" pitchFamily="18" charset="0"/>
            </a:endParaRPr>
          </a:p>
          <a:p>
            <a:pPr marL="65311" indent="0">
              <a:buNone/>
            </a:pPr>
            <a:endParaRPr lang="kk-KZ" dirty="0">
              <a:latin typeface="Times New Roman" panose="02020603050405020304" pitchFamily="18" charset="0"/>
              <a:cs typeface="Times New Roman" panose="02020603050405020304" pitchFamily="18" charset="0"/>
            </a:endParaRPr>
          </a:p>
          <a:p>
            <a:pPr marL="65311" indent="0">
              <a:buNone/>
            </a:pPr>
            <a:endParaRPr lang="kk-KZ" dirty="0" smtClean="0">
              <a:latin typeface="Times New Roman" panose="02020603050405020304" pitchFamily="18" charset="0"/>
              <a:cs typeface="Times New Roman" panose="02020603050405020304" pitchFamily="18" charset="0"/>
            </a:endParaRPr>
          </a:p>
          <a:p>
            <a:pPr marL="65311" indent="0">
              <a:buNone/>
            </a:pPr>
            <a:endParaRPr lang="ru-K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30204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p:txBody>
          <a:bodyPr/>
          <a:lstStyle/>
          <a:p>
            <a:endParaRPr lang="ru-RU" dirty="0"/>
          </a:p>
        </p:txBody>
      </p:sp>
      <p:sp>
        <p:nvSpPr>
          <p:cNvPr id="4" name="Rectangle 1"/>
          <p:cNvSpPr>
            <a:spLocks noGrp="1" noChangeArrowheads="1"/>
          </p:cNvSpPr>
          <p:nvPr>
            <p:ph type="ctrTitle"/>
          </p:nvPr>
        </p:nvSpPr>
        <p:spPr bwMode="auto">
          <a:xfrm>
            <a:off x="1808481" y="349183"/>
            <a:ext cx="10361748" cy="7048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l" defTabSz="914400" eaLnBrk="0" fontAlgn="base" hangingPunct="0">
              <a:spcAft>
                <a:spcPct val="0"/>
              </a:spcAft>
            </a:pPr>
            <a:r>
              <a:rPr kumimoji="0" lang="ru-RU" altLang="ru-RU" sz="1800" b="1" i="0" u="none" strike="noStrike" cap="none" normalizeH="0" baseline="0" dirty="0" smtClean="0">
                <a:ln>
                  <a:noFill/>
                </a:ln>
                <a:solidFill>
                  <a:schemeClr val="tx1"/>
                </a:solidFill>
                <a:effectLst/>
                <a:latin typeface="Arial" panose="020B0604020202020204" pitchFamily="34" charset="0"/>
              </a:rPr>
              <a:t/>
            </a:r>
            <a:br>
              <a:rPr kumimoji="0" lang="ru-RU" altLang="ru-RU" sz="1800" b="1" i="0" u="none" strike="noStrike" cap="none" normalizeH="0" baseline="0" dirty="0" smtClean="0">
                <a:ln>
                  <a:noFill/>
                </a:ln>
                <a:solidFill>
                  <a:schemeClr val="tx1"/>
                </a:solidFill>
                <a:effectLst/>
                <a:latin typeface="Arial" panose="020B0604020202020204" pitchFamily="34" charset="0"/>
              </a:rPr>
            </a:br>
            <a:r>
              <a:rPr kumimoji="0" lang="ru-RU" altLang="ru-RU" sz="3600" b="1" i="0" u="none" strike="noStrike" cap="none" normalizeH="0" baseline="0" dirty="0" smtClean="0">
                <a:ln>
                  <a:noFill/>
                </a:ln>
                <a:solidFill>
                  <a:schemeClr val="tx1"/>
                </a:solidFill>
                <a:effectLst/>
                <a:latin typeface="Arial" panose="020B0604020202020204" pitchFamily="34" charset="0"/>
              </a:rPr>
              <a:t>Менеджмент</a:t>
            </a:r>
            <a:r>
              <a:rPr kumimoji="0" lang="ru-RU" altLang="ru-RU" sz="3600" b="1" i="0" u="none" strike="noStrike" cap="none" normalizeH="0" dirty="0" smtClean="0">
                <a:ln>
                  <a:noFill/>
                </a:ln>
                <a:solidFill>
                  <a:schemeClr val="tx1"/>
                </a:solidFill>
                <a:effectLst/>
                <a:latin typeface="Arial" panose="020B0604020202020204" pitchFamily="34" charset="0"/>
              </a:rPr>
              <a:t> </a:t>
            </a:r>
            <a:r>
              <a:rPr kumimoji="0" lang="ru-RU" altLang="ru-RU" sz="3600" b="1" i="0" u="none" strike="noStrike" cap="none" normalizeH="0" dirty="0" err="1" smtClean="0">
                <a:ln>
                  <a:noFill/>
                </a:ln>
                <a:solidFill>
                  <a:schemeClr val="tx1"/>
                </a:solidFill>
                <a:effectLst/>
                <a:latin typeface="Arial" panose="020B0604020202020204" pitchFamily="34" charset="0"/>
              </a:rPr>
              <a:t>курсының</a:t>
            </a:r>
            <a:r>
              <a:rPr kumimoji="0" lang="ru-RU" altLang="ru-RU" sz="3600" b="1" i="0" u="none" strike="noStrike" cap="none" normalizeH="0" dirty="0" smtClean="0">
                <a:ln>
                  <a:noFill/>
                </a:ln>
                <a:solidFill>
                  <a:schemeClr val="tx1"/>
                </a:solidFill>
                <a:effectLst/>
                <a:latin typeface="Arial" panose="020B0604020202020204" pitchFamily="34" charset="0"/>
              </a:rPr>
              <a:t> </a:t>
            </a:r>
            <a:r>
              <a:rPr kumimoji="0" lang="ru-RU" altLang="ru-RU" sz="3600" b="1" i="0" u="none" strike="noStrike" cap="none" normalizeH="0" dirty="0" err="1" smtClean="0">
                <a:ln>
                  <a:noFill/>
                </a:ln>
                <a:solidFill>
                  <a:schemeClr val="tx1"/>
                </a:solidFill>
                <a:effectLst/>
                <a:latin typeface="Arial" panose="020B0604020202020204" pitchFamily="34" charset="0"/>
              </a:rPr>
              <a:t>міндеттері</a:t>
            </a:r>
            <a:r>
              <a:rPr kumimoji="0" lang="en-US" altLang="ru-RU" sz="3600" b="1" i="0" u="none" strike="noStrike" cap="none" normalizeH="0" dirty="0" smtClean="0">
                <a:ln>
                  <a:noFill/>
                </a:ln>
                <a:solidFill>
                  <a:schemeClr val="tx1"/>
                </a:solidFill>
                <a:effectLst/>
                <a:latin typeface="Arial" panose="020B0604020202020204" pitchFamily="34" charset="0"/>
              </a:rPr>
              <a:t>:</a:t>
            </a:r>
            <a:r>
              <a:rPr lang="ru-RU" altLang="ru-RU" sz="1800" b="1" dirty="0">
                <a:solidFill>
                  <a:schemeClr val="tx1"/>
                </a:solidFill>
                <a:latin typeface="Arial" panose="020B0604020202020204" pitchFamily="34" charset="0"/>
              </a:rPr>
              <a:t/>
            </a:r>
            <a:br>
              <a:rPr lang="ru-RU" altLang="ru-RU" sz="1800" b="1" dirty="0">
                <a:solidFill>
                  <a:schemeClr val="tx1"/>
                </a:solidFill>
                <a:latin typeface="Arial" panose="020B0604020202020204" pitchFamily="34" charset="0"/>
              </a:rPr>
            </a:br>
            <a:r>
              <a:rPr lang="ru-RU" altLang="ru-RU" sz="1800" b="1" dirty="0" smtClean="0">
                <a:solidFill>
                  <a:schemeClr val="tx1"/>
                </a:solidFill>
                <a:latin typeface="Arial" panose="020B0604020202020204" pitchFamily="34" charset="0"/>
              </a:rPr>
              <a:t/>
            </a:r>
            <a:br>
              <a:rPr lang="ru-RU" altLang="ru-RU" sz="1800" b="1" dirty="0" smtClean="0">
                <a:solidFill>
                  <a:schemeClr val="tx1"/>
                </a:solidFill>
                <a:latin typeface="Arial" panose="020B0604020202020204" pitchFamily="34" charset="0"/>
              </a:rPr>
            </a:br>
            <a:r>
              <a:rPr kumimoji="0" lang="ru-RU" altLang="ru-RU" sz="2000" b="1" i="0" u="none" strike="noStrike" cap="none" normalizeH="0" baseline="0" dirty="0" err="1" smtClean="0">
                <a:ln>
                  <a:noFill/>
                </a:ln>
                <a:solidFill>
                  <a:schemeClr val="tx1"/>
                </a:solidFill>
                <a:effectLst/>
                <a:latin typeface="Arial" panose="020B0604020202020204" pitchFamily="34" charset="0"/>
              </a:rPr>
              <a:t>Басқару</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теориясының</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негіздерін</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меңгерту</a:t>
            </a:r>
            <a:r>
              <a:rPr kumimoji="0" lang="ru-RU" altLang="ru-RU" sz="2000" b="0" i="0" u="none" strike="noStrike" cap="none" normalizeH="0" baseline="0" dirty="0" smtClean="0">
                <a:ln>
                  <a:noFill/>
                </a:ln>
                <a:solidFill>
                  <a:schemeClr val="tx1"/>
                </a:solidFill>
                <a:effectLst/>
                <a:latin typeface="Arial" panose="020B0604020202020204" pitchFamily="34" charset="0"/>
              </a:rPr>
              <a:t/>
            </a:r>
            <a:br>
              <a:rPr kumimoji="0" lang="ru-RU" altLang="ru-RU" sz="2000" b="0" i="0" u="none" strike="noStrike" cap="none" normalizeH="0" baseline="0" dirty="0" smtClean="0">
                <a:ln>
                  <a:noFill/>
                </a:ln>
                <a:solidFill>
                  <a:schemeClr val="tx1"/>
                </a:solidFill>
                <a:effectLst/>
                <a:latin typeface="Arial" panose="020B0604020202020204" pitchFamily="34" charset="0"/>
              </a:rPr>
            </a:br>
            <a:r>
              <a:rPr kumimoji="0" lang="ru-RU" altLang="ru-RU" sz="2000" b="0" i="0" u="none" strike="noStrike" cap="none" normalizeH="0" baseline="0" dirty="0" err="1" smtClean="0">
                <a:ln>
                  <a:noFill/>
                </a:ln>
                <a:solidFill>
                  <a:schemeClr val="tx1"/>
                </a:solidFill>
                <a:effectLst/>
                <a:latin typeface="Arial" panose="020B0604020202020204" pitchFamily="34" charset="0"/>
              </a:rPr>
              <a:t>Менеджменттің</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мәні</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принциптері</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функциялары</a:t>
            </a:r>
            <a:r>
              <a:rPr kumimoji="0" lang="ru-RU" altLang="ru-RU" sz="2000" b="0" i="0" u="none" strike="noStrike" cap="none" normalizeH="0" baseline="0" dirty="0" smtClean="0">
                <a:ln>
                  <a:noFill/>
                </a:ln>
                <a:solidFill>
                  <a:schemeClr val="tx1"/>
                </a:solidFill>
                <a:effectLst/>
                <a:latin typeface="Arial" panose="020B0604020202020204" pitchFamily="34" charset="0"/>
              </a:rPr>
              <a:t> мен </a:t>
            </a:r>
            <a:r>
              <a:rPr kumimoji="0" lang="ru-RU" altLang="ru-RU" sz="2000" b="0" i="0" u="none" strike="noStrike" cap="none" normalizeH="0" baseline="0" dirty="0" err="1" smtClean="0">
                <a:ln>
                  <a:noFill/>
                </a:ln>
                <a:solidFill>
                  <a:schemeClr val="tx1"/>
                </a:solidFill>
                <a:effectLst/>
                <a:latin typeface="Arial" panose="020B0604020202020204" pitchFamily="34" charset="0"/>
              </a:rPr>
              <a:t>әдістерін</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түсіндіру</a:t>
            </a:r>
            <a:r>
              <a:rPr kumimoji="0" lang="ru-RU" altLang="ru-RU" sz="20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1" i="0" u="none" strike="noStrike" cap="none" normalizeH="0" baseline="0" dirty="0" err="1" smtClean="0">
                <a:ln>
                  <a:noFill/>
                </a:ln>
                <a:solidFill>
                  <a:schemeClr val="tx1"/>
                </a:solidFill>
                <a:effectLst/>
                <a:latin typeface="Arial" panose="020B0604020202020204" pitchFamily="34" charset="0"/>
              </a:rPr>
              <a:t>Басқару</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функцияларын</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үйрету</a:t>
            </a:r>
            <a:r>
              <a:rPr kumimoji="0" lang="ru-RU" altLang="ru-RU" sz="2000" b="0" i="0" u="none" strike="noStrike" cap="none" normalizeH="0" baseline="0" dirty="0" smtClean="0">
                <a:ln>
                  <a:noFill/>
                </a:ln>
                <a:solidFill>
                  <a:schemeClr val="tx1"/>
                </a:solidFill>
                <a:effectLst/>
                <a:latin typeface="Arial" panose="020B0604020202020204" pitchFamily="34" charset="0"/>
              </a:rPr>
              <a:t/>
            </a:r>
            <a:br>
              <a:rPr kumimoji="0" lang="ru-RU" altLang="ru-RU" sz="2000" b="0" i="0" u="none" strike="noStrike" cap="none" normalizeH="0" baseline="0" dirty="0" smtClean="0">
                <a:ln>
                  <a:noFill/>
                </a:ln>
                <a:solidFill>
                  <a:schemeClr val="tx1"/>
                </a:solidFill>
                <a:effectLst/>
                <a:latin typeface="Arial" panose="020B0604020202020204" pitchFamily="34" charset="0"/>
              </a:rPr>
            </a:br>
            <a:r>
              <a:rPr kumimoji="0" lang="ru-RU" altLang="ru-RU" sz="2000" b="0" i="0" u="none" strike="noStrike" cap="none" normalizeH="0" baseline="0" dirty="0" err="1" smtClean="0">
                <a:ln>
                  <a:noFill/>
                </a:ln>
                <a:solidFill>
                  <a:schemeClr val="tx1"/>
                </a:solidFill>
                <a:effectLst/>
                <a:latin typeface="Arial" panose="020B0604020202020204" pitchFamily="34" charset="0"/>
              </a:rPr>
              <a:t>Жоспарлау</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ұйымдастыру</a:t>
            </a:r>
            <a:r>
              <a:rPr kumimoji="0" lang="ru-RU" altLang="ru-RU" sz="2000" b="0" i="0" u="none" strike="noStrike" cap="none" normalizeH="0" baseline="0" dirty="0" smtClean="0">
                <a:ln>
                  <a:noFill/>
                </a:ln>
                <a:solidFill>
                  <a:schemeClr val="tx1"/>
                </a:solidFill>
                <a:effectLst/>
                <a:latin typeface="Arial" panose="020B0604020202020204" pitchFamily="34" charset="0"/>
              </a:rPr>
              <a:t>, мотивация </a:t>
            </a:r>
            <a:r>
              <a:rPr kumimoji="0" lang="ru-RU" altLang="ru-RU" sz="2000" b="0" i="0" u="none" strike="noStrike" cap="none" normalizeH="0" baseline="0" dirty="0" err="1" smtClean="0">
                <a:ln>
                  <a:noFill/>
                </a:ln>
                <a:solidFill>
                  <a:schemeClr val="tx1"/>
                </a:solidFill>
                <a:effectLst/>
                <a:latin typeface="Arial" panose="020B0604020202020204" pitchFamily="34" charset="0"/>
              </a:rPr>
              <a:t>және</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бақылау</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процестерін</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тиімді</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жүзеге</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асыруды</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үйрету</a:t>
            </a:r>
            <a:r>
              <a:rPr kumimoji="0" lang="ru-RU" altLang="ru-RU" sz="20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1" i="0" u="none" strike="noStrike" cap="none" normalizeH="0" baseline="0" dirty="0" err="1" smtClean="0">
                <a:ln>
                  <a:noFill/>
                </a:ln>
                <a:solidFill>
                  <a:schemeClr val="tx1"/>
                </a:solidFill>
                <a:effectLst/>
                <a:latin typeface="Arial" panose="020B0604020202020204" pitchFamily="34" charset="0"/>
              </a:rPr>
              <a:t>Шешім</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қабылдау</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дағдыларын</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дамыту</a:t>
            </a:r>
            <a:r>
              <a:rPr kumimoji="0" lang="ru-RU" altLang="ru-RU" sz="2000" b="0" i="0" u="none" strike="noStrike" cap="none" normalizeH="0" baseline="0" dirty="0" smtClean="0">
                <a:ln>
                  <a:noFill/>
                </a:ln>
                <a:solidFill>
                  <a:schemeClr val="tx1"/>
                </a:solidFill>
                <a:effectLst/>
                <a:latin typeface="Arial" panose="020B0604020202020204" pitchFamily="34" charset="0"/>
              </a:rPr>
              <a:t/>
            </a:r>
            <a:br>
              <a:rPr kumimoji="0" lang="ru-RU" altLang="ru-RU" sz="2000" b="0" i="0" u="none" strike="noStrike" cap="none" normalizeH="0" baseline="0" dirty="0" smtClean="0">
                <a:ln>
                  <a:noFill/>
                </a:ln>
                <a:solidFill>
                  <a:schemeClr val="tx1"/>
                </a:solidFill>
                <a:effectLst/>
                <a:latin typeface="Arial" panose="020B0604020202020204" pitchFamily="34" charset="0"/>
              </a:rPr>
            </a:br>
            <a:r>
              <a:rPr kumimoji="0" lang="ru-RU" altLang="ru-RU" sz="2000" b="0" i="0" u="none" strike="noStrike" cap="none" normalizeH="0" baseline="0" dirty="0" err="1" smtClean="0">
                <a:ln>
                  <a:noFill/>
                </a:ln>
                <a:solidFill>
                  <a:schemeClr val="tx1"/>
                </a:solidFill>
                <a:effectLst/>
                <a:latin typeface="Arial" panose="020B0604020202020204" pitchFamily="34" charset="0"/>
              </a:rPr>
              <a:t>Басқарушылық</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жағдайларды</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талдау</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баламаларды</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бағалау</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және</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тиімді</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шешім</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қабылдау</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қабілетін</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қалыптастыру</a:t>
            </a:r>
            <a:r>
              <a:rPr kumimoji="0" lang="ru-RU" altLang="ru-RU" sz="20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1" i="0" u="none" strike="noStrike" cap="none" normalizeH="0" baseline="0" dirty="0" err="1" smtClean="0">
                <a:ln>
                  <a:noFill/>
                </a:ln>
                <a:solidFill>
                  <a:schemeClr val="tx1"/>
                </a:solidFill>
                <a:effectLst/>
                <a:latin typeface="Arial" panose="020B0604020202020204" pitchFamily="34" charset="0"/>
              </a:rPr>
              <a:t>Көшбасшылық</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және</a:t>
            </a:r>
            <a:r>
              <a:rPr kumimoji="0" lang="ru-RU" altLang="ru-RU" sz="2000" b="1" i="0" u="none" strike="noStrike" cap="none" normalizeH="0" baseline="0" dirty="0" smtClean="0">
                <a:ln>
                  <a:noFill/>
                </a:ln>
                <a:solidFill>
                  <a:schemeClr val="tx1"/>
                </a:solidFill>
                <a:effectLst/>
                <a:latin typeface="Arial" panose="020B0604020202020204" pitchFamily="34" charset="0"/>
              </a:rPr>
              <a:t> коммуникация </a:t>
            </a:r>
            <a:r>
              <a:rPr kumimoji="0" lang="ru-RU" altLang="ru-RU" sz="2000" b="1" i="0" u="none" strike="noStrike" cap="none" normalizeH="0" baseline="0" dirty="0" err="1" smtClean="0">
                <a:ln>
                  <a:noFill/>
                </a:ln>
                <a:solidFill>
                  <a:schemeClr val="tx1"/>
                </a:solidFill>
                <a:effectLst/>
                <a:latin typeface="Arial" panose="020B0604020202020204" pitchFamily="34" charset="0"/>
              </a:rPr>
              <a:t>қабілеттерін</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жетілдіру</a:t>
            </a:r>
            <a:r>
              <a:rPr kumimoji="0" lang="ru-RU" altLang="ru-RU" sz="2000" b="0" i="0" u="none" strike="noStrike" cap="none" normalizeH="0" baseline="0" dirty="0" smtClean="0">
                <a:ln>
                  <a:noFill/>
                </a:ln>
                <a:solidFill>
                  <a:schemeClr val="tx1"/>
                </a:solidFill>
                <a:effectLst/>
                <a:latin typeface="Arial" panose="020B0604020202020204" pitchFamily="34" charset="0"/>
              </a:rPr>
              <a:t/>
            </a:r>
            <a:br>
              <a:rPr kumimoji="0" lang="ru-RU" altLang="ru-RU" sz="2000" b="0" i="0" u="none" strike="noStrike" cap="none" normalizeH="0" baseline="0" dirty="0" smtClean="0">
                <a:ln>
                  <a:noFill/>
                </a:ln>
                <a:solidFill>
                  <a:schemeClr val="tx1"/>
                </a:solidFill>
                <a:effectLst/>
                <a:latin typeface="Arial" panose="020B0604020202020204" pitchFamily="34" charset="0"/>
              </a:rPr>
            </a:br>
            <a:r>
              <a:rPr kumimoji="0" lang="ru-RU" altLang="ru-RU" sz="2000" b="0" i="0" u="none" strike="noStrike" cap="none" normalizeH="0" baseline="0" dirty="0" err="1" smtClean="0">
                <a:ln>
                  <a:noFill/>
                </a:ln>
                <a:solidFill>
                  <a:schemeClr val="tx1"/>
                </a:solidFill>
                <a:effectLst/>
                <a:latin typeface="Arial" panose="020B0604020202020204" pitchFamily="34" charset="0"/>
              </a:rPr>
              <a:t>Ұжыммен</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жұмыс</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істеу</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қызметкерлерді</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ынталандыру</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қақтығыстарды</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басқару</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дағдыларын</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дамыту</a:t>
            </a:r>
            <a:r>
              <a:rPr kumimoji="0" lang="ru-RU" altLang="ru-RU" sz="20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1" i="0" u="none" strike="noStrike" cap="none" normalizeH="0" baseline="0" dirty="0" err="1" smtClean="0">
                <a:ln>
                  <a:noFill/>
                </a:ln>
                <a:solidFill>
                  <a:schemeClr val="tx1"/>
                </a:solidFill>
                <a:effectLst/>
                <a:latin typeface="Arial" panose="020B0604020202020204" pitchFamily="34" charset="0"/>
              </a:rPr>
              <a:t>Стратегиялық</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ойлауды</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қалыптастыру</a:t>
            </a:r>
            <a:r>
              <a:rPr kumimoji="0" lang="ru-RU" altLang="ru-RU" sz="2000" b="0" i="0" u="none" strike="noStrike" cap="none" normalizeH="0" baseline="0" dirty="0" smtClean="0">
                <a:ln>
                  <a:noFill/>
                </a:ln>
                <a:solidFill>
                  <a:schemeClr val="tx1"/>
                </a:solidFill>
                <a:effectLst/>
                <a:latin typeface="Arial" panose="020B0604020202020204" pitchFamily="34" charset="0"/>
              </a:rPr>
              <a:t/>
            </a:r>
            <a:br>
              <a:rPr kumimoji="0" lang="ru-RU" altLang="ru-RU" sz="2000" b="0" i="0" u="none" strike="noStrike" cap="none" normalizeH="0" baseline="0" dirty="0" smtClean="0">
                <a:ln>
                  <a:noFill/>
                </a:ln>
                <a:solidFill>
                  <a:schemeClr val="tx1"/>
                </a:solidFill>
                <a:effectLst/>
                <a:latin typeface="Arial" panose="020B0604020202020204" pitchFamily="34" charset="0"/>
              </a:rPr>
            </a:br>
            <a:r>
              <a:rPr kumimoji="0" lang="ru-RU" altLang="ru-RU" sz="2000" b="0" i="0" u="none" strike="noStrike" cap="none" normalizeH="0" baseline="0" dirty="0" err="1" smtClean="0">
                <a:ln>
                  <a:noFill/>
                </a:ln>
                <a:solidFill>
                  <a:schemeClr val="tx1"/>
                </a:solidFill>
                <a:effectLst/>
                <a:latin typeface="Arial" panose="020B0604020202020204" pitchFamily="34" charset="0"/>
              </a:rPr>
              <a:t>Ұйымның</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ұзақ</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мерзімді</a:t>
            </a:r>
            <a:r>
              <a:rPr kumimoji="0" lang="ru-RU" altLang="ru-RU" sz="2000" b="0" i="0" u="none" strike="noStrike" cap="none" normalizeH="0" baseline="0" dirty="0" smtClean="0">
                <a:ln>
                  <a:noFill/>
                </a:ln>
                <a:solidFill>
                  <a:schemeClr val="tx1"/>
                </a:solidFill>
                <a:effectLst/>
                <a:latin typeface="Arial" panose="020B0604020202020204" pitchFamily="34" charset="0"/>
              </a:rPr>
              <a:t> даму </a:t>
            </a:r>
            <a:r>
              <a:rPr kumimoji="0" lang="ru-RU" altLang="ru-RU" sz="2000" b="0" i="0" u="none" strike="noStrike" cap="none" normalizeH="0" baseline="0" dirty="0" err="1" smtClean="0">
                <a:ln>
                  <a:noFill/>
                </a:ln>
                <a:solidFill>
                  <a:schemeClr val="tx1"/>
                </a:solidFill>
                <a:effectLst/>
                <a:latin typeface="Arial" panose="020B0604020202020204" pitchFamily="34" charset="0"/>
              </a:rPr>
              <a:t>стратегиясын</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құру</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және</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бәсекелік</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ортада</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әрекет</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ету</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тәсілдерін</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үйрету</a:t>
            </a:r>
            <a:r>
              <a:rPr kumimoji="0" lang="ru-RU" altLang="ru-RU" sz="20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1" i="0" u="none" strike="noStrike" cap="none" normalizeH="0" baseline="0" dirty="0" err="1" smtClean="0">
                <a:ln>
                  <a:noFill/>
                </a:ln>
                <a:solidFill>
                  <a:schemeClr val="tx1"/>
                </a:solidFill>
                <a:effectLst/>
                <a:latin typeface="Arial" panose="020B0604020202020204" pitchFamily="34" charset="0"/>
              </a:rPr>
              <a:t>Нарықтық</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ортада</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жұмыс</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істеуді</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түсіндіру</a:t>
            </a:r>
            <a:r>
              <a:rPr kumimoji="0" lang="ru-RU" altLang="ru-RU" sz="2000" b="0" i="0" u="none" strike="noStrike" cap="none" normalizeH="0" baseline="0" dirty="0" smtClean="0">
                <a:ln>
                  <a:noFill/>
                </a:ln>
                <a:solidFill>
                  <a:schemeClr val="tx1"/>
                </a:solidFill>
                <a:effectLst/>
                <a:latin typeface="Arial" panose="020B0604020202020204" pitchFamily="34" charset="0"/>
              </a:rPr>
              <a:t/>
            </a:r>
            <a:br>
              <a:rPr kumimoji="0" lang="ru-RU" altLang="ru-RU" sz="2000" b="0" i="0" u="none" strike="noStrike" cap="none" normalizeH="0" baseline="0" dirty="0" smtClean="0">
                <a:ln>
                  <a:noFill/>
                </a:ln>
                <a:solidFill>
                  <a:schemeClr val="tx1"/>
                </a:solidFill>
                <a:effectLst/>
                <a:latin typeface="Arial" panose="020B0604020202020204" pitchFamily="34" charset="0"/>
              </a:rPr>
            </a:br>
            <a:r>
              <a:rPr kumimoji="0" lang="ru-RU" altLang="ru-RU" sz="2000" b="0" i="0" u="none" strike="noStrike" cap="none" normalizeH="0" baseline="0" dirty="0" err="1" smtClean="0">
                <a:ln>
                  <a:noFill/>
                </a:ln>
                <a:solidFill>
                  <a:schemeClr val="tx1"/>
                </a:solidFill>
                <a:effectLst/>
                <a:latin typeface="Arial" panose="020B0604020202020204" pitchFamily="34" charset="0"/>
              </a:rPr>
              <a:t>Заманауи</a:t>
            </a:r>
            <a:r>
              <a:rPr kumimoji="0" lang="ru-RU" altLang="ru-RU" sz="2000" b="0" i="0" u="none" strike="noStrike" cap="none" normalizeH="0" baseline="0" dirty="0" smtClean="0">
                <a:ln>
                  <a:noFill/>
                </a:ln>
                <a:solidFill>
                  <a:schemeClr val="tx1"/>
                </a:solidFill>
                <a:effectLst/>
                <a:latin typeface="Arial" panose="020B0604020202020204" pitchFamily="34" charset="0"/>
              </a:rPr>
              <a:t> бизнес </a:t>
            </a:r>
            <a:r>
              <a:rPr kumimoji="0" lang="ru-RU" altLang="ru-RU" sz="2000" b="0" i="0" u="none" strike="noStrike" cap="none" normalizeH="0" baseline="0" dirty="0" err="1" smtClean="0">
                <a:ln>
                  <a:noFill/>
                </a:ln>
                <a:solidFill>
                  <a:schemeClr val="tx1"/>
                </a:solidFill>
                <a:effectLst/>
                <a:latin typeface="Arial" panose="020B0604020202020204" pitchFamily="34" charset="0"/>
              </a:rPr>
              <a:t>жағдайында</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басқарудың</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ерекшеліктерін</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талдау</a:t>
            </a:r>
            <a:r>
              <a:rPr kumimoji="0" lang="ru-RU" altLang="ru-RU" sz="20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ru-RU" altLang="ru-RU" sz="2000" b="1" i="0" u="none" strike="noStrike" cap="none" normalizeH="0" baseline="0" dirty="0" err="1" smtClean="0">
                <a:ln>
                  <a:noFill/>
                </a:ln>
                <a:solidFill>
                  <a:schemeClr val="tx1"/>
                </a:solidFill>
                <a:effectLst/>
                <a:latin typeface="Arial" panose="020B0604020202020204" pitchFamily="34" charset="0"/>
              </a:rPr>
              <a:t>Практикалық</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дағдыларды</a:t>
            </a:r>
            <a:r>
              <a:rPr kumimoji="0" lang="ru-RU" altLang="ru-RU" sz="2000" b="1" i="0" u="none" strike="noStrike" cap="none" normalizeH="0" baseline="0" dirty="0" smtClean="0">
                <a:ln>
                  <a:noFill/>
                </a:ln>
                <a:solidFill>
                  <a:schemeClr val="tx1"/>
                </a:solidFill>
                <a:effectLst/>
                <a:latin typeface="Arial" panose="020B0604020202020204" pitchFamily="34" charset="0"/>
              </a:rPr>
              <a:t> </a:t>
            </a:r>
            <a:r>
              <a:rPr kumimoji="0" lang="ru-RU" altLang="ru-RU" sz="2000" b="1" i="0" u="none" strike="noStrike" cap="none" normalizeH="0" baseline="0" dirty="0" err="1" smtClean="0">
                <a:ln>
                  <a:noFill/>
                </a:ln>
                <a:solidFill>
                  <a:schemeClr val="tx1"/>
                </a:solidFill>
                <a:effectLst/>
                <a:latin typeface="Arial" panose="020B0604020202020204" pitchFamily="34" charset="0"/>
              </a:rPr>
              <a:t>қалыптастыру</a:t>
            </a:r>
            <a:r>
              <a:rPr kumimoji="0" lang="ru-RU" altLang="ru-RU" sz="2000" b="0" i="0" u="none" strike="noStrike" cap="none" normalizeH="0" baseline="0" dirty="0" smtClean="0">
                <a:ln>
                  <a:noFill/>
                </a:ln>
                <a:solidFill>
                  <a:schemeClr val="tx1"/>
                </a:solidFill>
                <a:effectLst/>
                <a:latin typeface="Arial" panose="020B0604020202020204" pitchFamily="34" charset="0"/>
              </a:rPr>
              <a:t/>
            </a:r>
            <a:br>
              <a:rPr kumimoji="0" lang="ru-RU" altLang="ru-RU" sz="2000" b="0" i="0" u="none" strike="noStrike" cap="none" normalizeH="0" baseline="0" dirty="0" smtClean="0">
                <a:ln>
                  <a:noFill/>
                </a:ln>
                <a:solidFill>
                  <a:schemeClr val="tx1"/>
                </a:solidFill>
                <a:effectLst/>
                <a:latin typeface="Arial" panose="020B0604020202020204" pitchFamily="34" charset="0"/>
              </a:rPr>
            </a:br>
            <a:r>
              <a:rPr kumimoji="0" lang="ru-RU" altLang="ru-RU" sz="2000" b="0" i="0" u="none" strike="noStrike" cap="none" normalizeH="0" baseline="0" dirty="0" err="1" smtClean="0">
                <a:ln>
                  <a:noFill/>
                </a:ln>
                <a:solidFill>
                  <a:schemeClr val="tx1"/>
                </a:solidFill>
                <a:effectLst/>
                <a:latin typeface="Arial" panose="020B0604020202020204" pitchFamily="34" charset="0"/>
              </a:rPr>
              <a:t>Нақты</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мысалдар</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кейстер</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және</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тәжірибелік</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тапсырмалар</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арқылы</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теорияны</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практикамен</a:t>
            </a:r>
            <a:r>
              <a:rPr kumimoji="0" lang="ru-RU" altLang="ru-RU" sz="2000" b="0" i="0" u="none" strike="noStrike" cap="none" normalizeH="0" baseline="0" dirty="0" smtClean="0">
                <a:ln>
                  <a:noFill/>
                </a:ln>
                <a:solidFill>
                  <a:schemeClr val="tx1"/>
                </a:solidFill>
                <a:effectLst/>
                <a:latin typeface="Arial" panose="020B0604020202020204" pitchFamily="34" charset="0"/>
              </a:rPr>
              <a:t> </a:t>
            </a:r>
            <a:r>
              <a:rPr kumimoji="0" lang="ru-RU" altLang="ru-RU" sz="2000" b="0" i="0" u="none" strike="noStrike" cap="none" normalizeH="0" baseline="0" dirty="0" err="1" smtClean="0">
                <a:ln>
                  <a:noFill/>
                </a:ln>
                <a:solidFill>
                  <a:schemeClr val="tx1"/>
                </a:solidFill>
                <a:effectLst/>
                <a:latin typeface="Arial" panose="020B0604020202020204" pitchFamily="34" charset="0"/>
              </a:rPr>
              <a:t>ұштастыру</a:t>
            </a:r>
            <a:r>
              <a:rPr kumimoji="0" lang="ru-RU" altLang="ru-RU" sz="20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044594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Заголовок 3"/>
          <p:cNvSpPr>
            <a:spLocks noGrp="1"/>
          </p:cNvSpPr>
          <p:nvPr>
            <p:ph type="title"/>
          </p:nvPr>
        </p:nvSpPr>
        <p:spPr>
          <a:xfrm>
            <a:off x="812800" y="731520"/>
            <a:ext cx="13407291" cy="6325772"/>
          </a:xfrm>
        </p:spPr>
        <p:txBody>
          <a:bodyPr>
            <a:normAutofit fontScale="90000"/>
          </a:bodyPr>
          <a:lstStyle/>
          <a:p>
            <a:r>
              <a:rPr lang="kk-KZ" sz="4400" b="1" dirty="0" smtClean="0">
                <a:solidFill>
                  <a:schemeClr val="tx1"/>
                </a:solidFill>
                <a:latin typeface="Calibri" panose="020F0502020204030204" pitchFamily="34" charset="0"/>
                <a:ea typeface="Calibri" panose="020F0502020204030204" pitchFamily="34" charset="0"/>
                <a:cs typeface="Calibri" panose="020F0502020204030204" pitchFamily="34" charset="0"/>
              </a:rPr>
              <a:t>                   Пайдаланылған әдебиеттер</a:t>
            </a:r>
            <a:br>
              <a:rPr lang="kk-KZ" sz="4400" b="1" dirty="0" smtClean="0">
                <a:solidFill>
                  <a:schemeClr val="tx1"/>
                </a:solidFill>
                <a:latin typeface="Calibri" panose="020F0502020204030204" pitchFamily="34" charset="0"/>
                <a:ea typeface="Calibri" panose="020F0502020204030204" pitchFamily="34" charset="0"/>
                <a:cs typeface="Calibri" panose="020F0502020204030204" pitchFamily="34" charset="0"/>
              </a:rPr>
            </a:br>
            <a:r>
              <a:rPr lang="kk-KZ" sz="4400" b="1"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r>
            <a:br>
              <a:rPr lang="kk-KZ" sz="4400" b="1" dirty="0" smtClean="0">
                <a:solidFill>
                  <a:schemeClr val="tx1"/>
                </a:solidFill>
                <a:latin typeface="Calibri" panose="020F0502020204030204" pitchFamily="34" charset="0"/>
                <a:ea typeface="Calibri" panose="020F0502020204030204" pitchFamily="34" charset="0"/>
                <a:cs typeface="Calibri" panose="020F0502020204030204" pitchFamily="34" charset="0"/>
              </a:rPr>
            </a:br>
            <a:r>
              <a:rPr lang="kk-KZ" sz="4400" dirty="0">
                <a:solidFill>
                  <a:schemeClr val="tx1"/>
                </a:solidFill>
                <a:latin typeface="Times New Roman" panose="02020603050405020304" pitchFamily="18" charset="0"/>
                <a:cs typeface="Times New Roman" panose="02020603050405020304" pitchFamily="18" charset="0"/>
              </a:rPr>
              <a:t>1. Гриффин, Рикки У. Менеджмент [Мәтін] = Management: Оқулық / Рикки У. Гриффин.- 12-ші басылым.- Алматы: Ұлттық аударма бюросы, 2018.- 768 б.</a:t>
            </a:r>
            <a:r>
              <a:rPr lang="ru-RU" sz="4400" dirty="0">
                <a:solidFill>
                  <a:schemeClr val="tx1"/>
                </a:solidFill>
                <a:latin typeface="Times New Roman" panose="02020603050405020304" pitchFamily="18" charset="0"/>
                <a:cs typeface="Times New Roman" panose="02020603050405020304" pitchFamily="18" charset="0"/>
              </a:rPr>
              <a:t/>
            </a:r>
            <a:br>
              <a:rPr lang="ru-RU" sz="4400" dirty="0">
                <a:solidFill>
                  <a:schemeClr val="tx1"/>
                </a:solidFill>
                <a:latin typeface="Times New Roman" panose="02020603050405020304" pitchFamily="18" charset="0"/>
                <a:cs typeface="Times New Roman" panose="02020603050405020304" pitchFamily="18" charset="0"/>
              </a:rPr>
            </a:br>
            <a:r>
              <a:rPr lang="kk-KZ" sz="4400" dirty="0">
                <a:solidFill>
                  <a:schemeClr val="tx1"/>
                </a:solidFill>
                <a:latin typeface="Times New Roman" panose="02020603050405020304" pitchFamily="18" charset="0"/>
                <a:cs typeface="Times New Roman" panose="02020603050405020304" pitchFamily="18" charset="0"/>
              </a:rPr>
              <a:t>2.Сулейменов Ж.Ж., Қуашбай С. Менеджменттің теориялық негіздері. Оқу құралы. / «Фортуна Полиграф» баспасы ЖШС. Алматы. 2020. - 259 бет</a:t>
            </a:r>
            <a:r>
              <a:rPr lang="ru-RU" sz="4400" dirty="0">
                <a:solidFill>
                  <a:schemeClr val="tx1"/>
                </a:solidFill>
                <a:latin typeface="Times New Roman" panose="02020603050405020304" pitchFamily="18" charset="0"/>
                <a:cs typeface="Times New Roman" panose="02020603050405020304" pitchFamily="18" charset="0"/>
              </a:rPr>
              <a:t/>
            </a:r>
            <a:br>
              <a:rPr lang="ru-RU" sz="4400" dirty="0">
                <a:solidFill>
                  <a:schemeClr val="tx1"/>
                </a:solidFill>
                <a:latin typeface="Times New Roman" panose="02020603050405020304" pitchFamily="18" charset="0"/>
                <a:cs typeface="Times New Roman" panose="02020603050405020304" pitchFamily="18" charset="0"/>
              </a:rPr>
            </a:br>
            <a:r>
              <a:rPr lang="en-US" sz="2000" dirty="0"/>
              <a:t/>
            </a:r>
            <a:br>
              <a:rPr lang="en-US" sz="2000" dirty="0"/>
            </a:br>
            <a:r>
              <a:rPr lang="kk-KZ" sz="4400" b="1" dirty="0">
                <a:latin typeface="Calibri" panose="020F0502020204030204" pitchFamily="34" charset="0"/>
                <a:ea typeface="Calibri" panose="020F0502020204030204" pitchFamily="34" charset="0"/>
                <a:cs typeface="Calibri" panose="020F0502020204030204" pitchFamily="34" charset="0"/>
              </a:rPr>
              <a:t/>
            </a:r>
            <a:br>
              <a:rPr lang="kk-KZ" sz="4400" b="1" dirty="0">
                <a:latin typeface="Calibri" panose="020F0502020204030204" pitchFamily="34" charset="0"/>
                <a:ea typeface="Calibri" panose="020F0502020204030204" pitchFamily="34" charset="0"/>
                <a:cs typeface="Calibri" panose="020F0502020204030204" pitchFamily="34" charset="0"/>
              </a:rPr>
            </a:br>
            <a:endParaRPr lang="ru-RU" dirty="0">
              <a:solidFill>
                <a:schemeClr val="tx1"/>
              </a:solidFill>
            </a:endParaRPr>
          </a:p>
        </p:txBody>
      </p:sp>
    </p:spTree>
    <p:extLst>
      <p:ext uri="{BB962C8B-B14F-4D97-AF65-F5344CB8AC3E}">
        <p14:creationId xmlns:p14="http://schemas.microsoft.com/office/powerpoint/2010/main" val="4118191891"/>
      </p:ext>
    </p:extLst>
  </p:cSld>
  <p:clrMapOvr>
    <a:masterClrMapping/>
  </p:clrMapOvr>
</p:sld>
</file>

<file path=ppt/theme/theme1.xml><?xml version="1.0" encoding="utf-8"?>
<a:theme xmlns:a="http://schemas.openxmlformats.org/drawingml/2006/main" name="Аспект">
  <a:themeElements>
    <a:clrScheme name="Аспект">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Аспект">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Аспект">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464</TotalTime>
  <Words>215</Words>
  <Application>Microsoft Office PowerPoint</Application>
  <PresentationFormat>Произвольный</PresentationFormat>
  <Paragraphs>72</Paragraphs>
  <Slides>6</Slides>
  <Notes>3</Notes>
  <HiddenSlides>0</HiddenSlides>
  <MMClips>0</MMClips>
  <ScaleCrop>false</ScaleCrop>
  <HeadingPairs>
    <vt:vector size="6" baseType="variant">
      <vt:variant>
        <vt:lpstr>Использованные шрифты</vt:lpstr>
      </vt:variant>
      <vt:variant>
        <vt:i4>9</vt:i4>
      </vt:variant>
      <vt:variant>
        <vt:lpstr>Тема</vt:lpstr>
      </vt:variant>
      <vt:variant>
        <vt:i4>1</vt:i4>
      </vt:variant>
      <vt:variant>
        <vt:lpstr>Заголовки слайдов</vt:lpstr>
      </vt:variant>
      <vt:variant>
        <vt:i4>6</vt:i4>
      </vt:variant>
    </vt:vector>
  </HeadingPairs>
  <TitlesOfParts>
    <vt:vector size="16" baseType="lpstr">
      <vt:lpstr>Arial</vt:lpstr>
      <vt:lpstr>Times New Roman</vt:lpstr>
      <vt:lpstr>Inter</vt:lpstr>
      <vt:lpstr>Inter Bold</vt:lpstr>
      <vt:lpstr>Trebuchet MS</vt:lpstr>
      <vt:lpstr>Wingdings 3</vt:lpstr>
      <vt:lpstr>Calibri</vt:lpstr>
      <vt:lpstr>Palatino Linotype</vt:lpstr>
      <vt:lpstr>Aptos</vt:lpstr>
      <vt:lpstr>Аспект</vt:lpstr>
      <vt:lpstr>Презентация PowerPoint</vt:lpstr>
      <vt:lpstr>Презентация PowerPoint</vt:lpstr>
      <vt:lpstr>Презентация PowerPoint</vt:lpstr>
      <vt:lpstr>Дәріс тақырыптары</vt:lpstr>
      <vt:lpstr> Менеджмент курсының міндеттері:  Басқару теориясының негіздерін меңгерту Менеджменттің мәні, принциптері, функциялары мен әдістерін түсіндіру. Басқару функцияларын үйрету Жоспарлау, ұйымдастыру, мотивация және бақылау процестерін тиімді жүзеге асыруды үйрету. Шешім қабылдау дағдыларын дамыту Басқарушылық жағдайларды талдау, баламаларды бағалау және тиімді шешім қабылдау қабілетін қалыптастыру. Көшбасшылық және коммуникация қабілеттерін жетілдіру Ұжыммен жұмыс істеу, қызметкерлерді ынталандыру, қақтығыстарды басқару дағдыларын дамыту. Стратегиялық ойлауды қалыптастыру Ұйымның ұзақ мерзімді даму стратегиясын құру және бәсекелік ортада әрекет ету тәсілдерін үйрету. Нарықтық ортада жұмыс істеуді түсіндіру Заманауи бизнес жағдайында басқарудың ерекшеліктерін талдау. Практикалық дағдыларды қалыптастыру Нақты мысалдар, кейстер және тәжірибелік тапсырмалар арқылы теорияны практикамен ұштастыру.</vt:lpstr>
      <vt:lpstr>                   Пайдаланылған әдебиеттер  1. Гриффин, Рикки У. Менеджмент [Мәтін] = Management: Оқулық / Рикки У. Гриффин.- 12-ші басылым.- Алматы: Ұлттық аударма бюросы, 2018.- 768 б. 2.Сулейменов Ж.Ж., Қуашбай С. Менеджменттің теориялық негіздері. Оқу құралы. / «Фортуна Полиграф» баспасы ЖШС. Алматы. 2020. - 259 бет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Amina</dc:creator>
  <cp:lastModifiedBy>Amina</cp:lastModifiedBy>
  <cp:revision>94</cp:revision>
  <dcterms:created xsi:type="dcterms:W3CDTF">2026-01-02T17:48:07Z</dcterms:created>
  <dcterms:modified xsi:type="dcterms:W3CDTF">2026-04-19T18:51:20Z</dcterms:modified>
</cp:coreProperties>
</file>